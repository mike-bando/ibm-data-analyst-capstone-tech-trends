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2" r:id="rId10"/>
    <p:sldId id="277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8" r:id="rId22"/>
    <p:sldId id="279" r:id="rId23"/>
    <p:sldId id="274" r:id="rId24"/>
    <p:sldId id="275" r:id="rId25"/>
  </p:sldIdLst>
  <p:sldSz cx="12192000" cy="6858000"/>
  <p:notesSz cx="6858000" cy="1857375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1408" autoAdjust="0"/>
  </p:normalViewPr>
  <p:slideViewPr>
    <p:cSldViewPr snapToGrid="0">
      <p:cViewPr varScale="1">
        <p:scale>
          <a:sx n="183" d="100"/>
          <a:sy n="183" d="100"/>
        </p:scale>
        <p:origin x="440" y="200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5" Type="http://schemas.openxmlformats.org/officeDocument/2006/relationships/image" Target="../media/image10.png"/><Relationship Id="rId4" Type="http://schemas.openxmlformats.org/officeDocument/2006/relationships/customXml" Target="../ink/ink1.xml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24427" y="1168401"/>
            <a:ext cx="9135454" cy="2387600"/>
          </a:xfrm>
          <a:noFill/>
        </p:spPr>
        <p:txBody>
          <a:bodyPr>
            <a:normAutofit/>
          </a:bodyPr>
          <a:lstStyle/>
          <a:p>
            <a:r>
              <a:rPr lang="pl-PL" sz="3600" i="1" dirty="0"/>
              <a:t>Data Analysis </a:t>
            </a:r>
            <a:br>
              <a:rPr lang="pl-PL" sz="3600" i="1" dirty="0"/>
            </a:br>
            <a:r>
              <a:rPr lang="pl-PL" sz="3600" i="1" dirty="0"/>
              <a:t>and </a:t>
            </a:r>
            <a:br>
              <a:rPr lang="pl-PL" sz="3600" i="1" dirty="0"/>
            </a:br>
            <a:r>
              <a:rPr lang="pl-PL" sz="3200" i="1" dirty="0" err="1"/>
              <a:t>Visualization</a:t>
            </a:r>
            <a:r>
              <a:rPr lang="pl-PL" sz="3200" i="1" dirty="0"/>
              <a:t> of Developer </a:t>
            </a:r>
            <a:r>
              <a:rPr lang="pl-PL" sz="3200" i="1" dirty="0" err="1"/>
              <a:t>Trends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0027" y="3731247"/>
            <a:ext cx="9135454" cy="1655762"/>
          </a:xfrm>
          <a:noFill/>
        </p:spPr>
        <p:txBody>
          <a:bodyPr/>
          <a:lstStyle/>
          <a:p>
            <a:r>
              <a:rPr lang="en-US" dirty="0"/>
              <a:t>Michal Bando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719" y="387350"/>
            <a:ext cx="4794861" cy="4351338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2278965"/>
            <a:ext cx="5181600" cy="389799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2400" dirty="0"/>
              <a:t>1. </a:t>
            </a:r>
            <a:r>
              <a:rPr lang="pl-PL" sz="2400" dirty="0" err="1"/>
              <a:t>Executive</a:t>
            </a:r>
            <a:r>
              <a:rPr lang="pl-PL" sz="2400" dirty="0"/>
              <a:t> </a:t>
            </a:r>
            <a:r>
              <a:rPr lang="pl-PL" sz="2400" dirty="0" err="1"/>
              <a:t>Summary</a:t>
            </a:r>
            <a:r>
              <a:rPr lang="pl-PL" sz="2400" dirty="0"/>
              <a:t>, </a:t>
            </a:r>
          </a:p>
          <a:p>
            <a:pPr marL="0" indent="0">
              <a:buNone/>
            </a:pPr>
            <a:r>
              <a:rPr lang="pl-PL" sz="2400" dirty="0"/>
              <a:t>2. </a:t>
            </a:r>
            <a:r>
              <a:rPr lang="pl-PL" sz="2400" dirty="0" err="1"/>
              <a:t>Introduction</a:t>
            </a:r>
            <a:r>
              <a:rPr lang="pl-PL" sz="2400" dirty="0"/>
              <a:t>, </a:t>
            </a:r>
          </a:p>
          <a:p>
            <a:pPr marL="0" indent="0">
              <a:buNone/>
            </a:pPr>
            <a:r>
              <a:rPr lang="pl-PL" sz="2400" dirty="0"/>
              <a:t>3. </a:t>
            </a:r>
            <a:r>
              <a:rPr lang="pl-PL" sz="2400" dirty="0" err="1"/>
              <a:t>Methodology</a:t>
            </a:r>
            <a:r>
              <a:rPr lang="pl-PL" sz="2400" dirty="0"/>
              <a:t>, </a:t>
            </a:r>
          </a:p>
          <a:p>
            <a:pPr marL="0" indent="0">
              <a:buNone/>
            </a:pPr>
            <a:r>
              <a:rPr lang="pl-PL" sz="2400" dirty="0"/>
              <a:t>4. Language &amp; Database </a:t>
            </a:r>
            <a:r>
              <a:rPr lang="pl-PL" sz="2400" dirty="0" err="1"/>
              <a:t>Trends</a:t>
            </a:r>
            <a:r>
              <a:rPr lang="pl-PL" sz="2400" dirty="0"/>
              <a:t>, </a:t>
            </a:r>
          </a:p>
          <a:p>
            <a:pPr marL="0" indent="0">
              <a:buNone/>
            </a:pPr>
            <a:r>
              <a:rPr lang="pl-PL" sz="2400" dirty="0"/>
              <a:t>5. </a:t>
            </a:r>
            <a:r>
              <a:rPr lang="pl-PL" sz="2400" dirty="0" err="1"/>
              <a:t>Dashboards</a:t>
            </a:r>
            <a:r>
              <a:rPr lang="pl-PL" sz="2400" dirty="0"/>
              <a:t>, </a:t>
            </a:r>
          </a:p>
          <a:p>
            <a:pPr marL="0" indent="0">
              <a:buNone/>
            </a:pPr>
            <a:r>
              <a:rPr lang="pl-PL" sz="2400" dirty="0"/>
              <a:t>6. </a:t>
            </a:r>
            <a:r>
              <a:rPr lang="pl-PL" sz="2400" dirty="0" err="1"/>
              <a:t>Insights</a:t>
            </a:r>
            <a:r>
              <a:rPr lang="pl-PL" sz="2400" dirty="0"/>
              <a:t> &amp; </a:t>
            </a:r>
            <a:r>
              <a:rPr lang="pl-PL" sz="2400" dirty="0" err="1"/>
              <a:t>Conclusions</a:t>
            </a:r>
            <a:r>
              <a:rPr lang="pl-PL" sz="2400" dirty="0"/>
              <a:t>.</a:t>
            </a:r>
            <a:endParaRPr lang="en-US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825624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B1BE0965-E1F2-D5B5-6813-D05CB0057750}"/>
              </a:ext>
            </a:extLst>
          </p:cNvPr>
          <p:cNvSpPr txBox="1"/>
          <p:nvPr/>
        </p:nvSpPr>
        <p:spPr>
          <a:xfrm>
            <a:off x="4630117" y="2191892"/>
            <a:ext cx="68404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b="1" dirty="0" err="1">
                <a:latin typeface="Arial" panose="020B0604020202020204" pitchFamily="34" charset="0"/>
              </a:rPr>
              <a:t>Core</a:t>
            </a:r>
            <a:r>
              <a:rPr lang="pl-PL" altLang="pl-PL" b="1" dirty="0">
                <a:latin typeface="Arial" panose="020B0604020202020204" pitchFamily="34" charset="0"/>
              </a:rPr>
              <a:t> </a:t>
            </a:r>
            <a:r>
              <a:rPr lang="pl-PL" altLang="pl-PL" b="1" dirty="0" err="1">
                <a:latin typeface="Arial" panose="020B0604020202020204" pitchFamily="34" charset="0"/>
              </a:rPr>
              <a:t>Finding</a:t>
            </a:r>
            <a:r>
              <a:rPr lang="pl-PL" altLang="pl-PL" b="1" dirty="0">
                <a:latin typeface="Arial" panose="020B0604020202020204" pitchFamily="34" charset="0"/>
              </a:rPr>
              <a:t>:</a:t>
            </a:r>
            <a:r>
              <a:rPr lang="pl-PL" altLang="pl-PL" dirty="0">
                <a:latin typeface="Arial" panose="020B0604020202020204" pitchFamily="34" charset="0"/>
              </a:rPr>
              <a:t> JavaScript </a:t>
            </a:r>
            <a:r>
              <a:rPr lang="pl-PL" altLang="pl-PL" dirty="0" err="1">
                <a:latin typeface="Arial" panose="020B0604020202020204" pitchFamily="34" charset="0"/>
              </a:rPr>
              <a:t>remains</a:t>
            </a:r>
            <a:r>
              <a:rPr lang="pl-PL" altLang="pl-PL" dirty="0">
                <a:latin typeface="Arial" panose="020B0604020202020204" pitchFamily="34" charset="0"/>
              </a:rPr>
              <a:t> the most </a:t>
            </a:r>
            <a:r>
              <a:rPr lang="pl-PL" altLang="pl-PL" dirty="0" err="1">
                <a:latin typeface="Arial" panose="020B0604020202020204" pitchFamily="34" charset="0"/>
              </a:rPr>
              <a:t>utilized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language</a:t>
            </a:r>
            <a:r>
              <a:rPr lang="pl-PL" altLang="pl-PL" dirty="0">
                <a:latin typeface="Arial" panose="020B0604020202020204" pitchFamily="34" charset="0"/>
              </a:rPr>
              <a:t>, but </a:t>
            </a:r>
            <a:r>
              <a:rPr lang="pl-PL" altLang="pl-PL" dirty="0" err="1">
                <a:latin typeface="Arial" panose="020B0604020202020204" pitchFamily="34" charset="0"/>
              </a:rPr>
              <a:t>Python</a:t>
            </a:r>
            <a:r>
              <a:rPr lang="pl-PL" altLang="pl-PL" dirty="0">
                <a:latin typeface="Arial" panose="020B0604020202020204" pitchFamily="34" charset="0"/>
              </a:rPr>
              <a:t> and </a:t>
            </a:r>
            <a:r>
              <a:rPr lang="pl-PL" altLang="pl-PL" dirty="0" err="1">
                <a:latin typeface="Arial" panose="020B0604020202020204" pitchFamily="34" charset="0"/>
              </a:rPr>
              <a:t>Rust</a:t>
            </a:r>
            <a:r>
              <a:rPr lang="pl-PL" altLang="pl-PL" dirty="0">
                <a:latin typeface="Arial" panose="020B0604020202020204" pitchFamily="34" charset="0"/>
              </a:rPr>
              <a:t> show the </a:t>
            </a:r>
            <a:r>
              <a:rPr lang="pl-PL" altLang="pl-PL" dirty="0" err="1">
                <a:latin typeface="Arial" panose="020B0604020202020204" pitchFamily="34" charset="0"/>
              </a:rPr>
              <a:t>highest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growth</a:t>
            </a:r>
            <a:r>
              <a:rPr lang="pl-PL" altLang="pl-PL" dirty="0">
                <a:latin typeface="Arial" panose="020B0604020202020204" pitchFamily="34" charset="0"/>
              </a:rPr>
              <a:t> in </a:t>
            </a:r>
            <a:r>
              <a:rPr lang="pl-PL" altLang="pl-PL" dirty="0" err="1">
                <a:latin typeface="Arial" panose="020B0604020202020204" pitchFamily="34" charset="0"/>
              </a:rPr>
              <a:t>future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interest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l-PL" altLang="pl-PL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l-PL" altLang="pl-PL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b="1" dirty="0">
                <a:latin typeface="Arial" panose="020B0604020202020204" pitchFamily="34" charset="0"/>
              </a:rPr>
              <a:t>Database </a:t>
            </a:r>
            <a:r>
              <a:rPr lang="pl-PL" altLang="pl-PL" b="1" dirty="0" err="1">
                <a:latin typeface="Arial" panose="020B0604020202020204" pitchFamily="34" charset="0"/>
              </a:rPr>
              <a:t>Shift</a:t>
            </a:r>
            <a:r>
              <a:rPr lang="pl-PL" altLang="pl-PL" b="1" dirty="0">
                <a:latin typeface="Arial" panose="020B0604020202020204" pitchFamily="34" charset="0"/>
              </a:rPr>
              <a:t>: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Traditional</a:t>
            </a:r>
            <a:r>
              <a:rPr lang="pl-PL" altLang="pl-PL" dirty="0">
                <a:latin typeface="Arial" panose="020B0604020202020204" pitchFamily="34" charset="0"/>
              </a:rPr>
              <a:t> SQL </a:t>
            </a:r>
            <a:r>
              <a:rPr lang="pl-PL" altLang="pl-PL" dirty="0" err="1">
                <a:latin typeface="Arial" panose="020B0604020202020204" pitchFamily="34" charset="0"/>
              </a:rPr>
              <a:t>databases</a:t>
            </a:r>
            <a:r>
              <a:rPr lang="pl-PL" altLang="pl-PL" dirty="0">
                <a:latin typeface="Arial" panose="020B0604020202020204" pitchFamily="34" charset="0"/>
              </a:rPr>
              <a:t> (</a:t>
            </a:r>
            <a:r>
              <a:rPr lang="pl-PL" altLang="pl-PL" dirty="0" err="1">
                <a:latin typeface="Arial" panose="020B0604020202020204" pitchFamily="34" charset="0"/>
              </a:rPr>
              <a:t>PostgreSQL</a:t>
            </a:r>
            <a:r>
              <a:rPr lang="pl-PL" altLang="pl-PL" dirty="0">
                <a:latin typeface="Arial" panose="020B0604020202020204" pitchFamily="34" charset="0"/>
              </a:rPr>
              <a:t>/MySQL) </a:t>
            </a:r>
            <a:r>
              <a:rPr lang="pl-PL" altLang="pl-PL" dirty="0" err="1">
                <a:latin typeface="Arial" panose="020B0604020202020204" pitchFamily="34" charset="0"/>
              </a:rPr>
              <a:t>dominate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current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usage</a:t>
            </a:r>
            <a:r>
              <a:rPr lang="pl-PL" altLang="pl-PL" dirty="0">
                <a:latin typeface="Arial" panose="020B0604020202020204" pitchFamily="34" charset="0"/>
              </a:rPr>
              <a:t>, </a:t>
            </a:r>
            <a:r>
              <a:rPr lang="pl-PL" altLang="pl-PL" dirty="0" err="1">
                <a:latin typeface="Arial" panose="020B0604020202020204" pitchFamily="34" charset="0"/>
              </a:rPr>
              <a:t>while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NoSQL</a:t>
            </a:r>
            <a:r>
              <a:rPr lang="pl-PL" altLang="pl-PL" dirty="0">
                <a:latin typeface="Arial" panose="020B0604020202020204" pitchFamily="34" charset="0"/>
              </a:rPr>
              <a:t> and </a:t>
            </a:r>
            <a:r>
              <a:rPr lang="pl-PL" altLang="pl-PL" dirty="0" err="1">
                <a:latin typeface="Arial" panose="020B0604020202020204" pitchFamily="34" charset="0"/>
              </a:rPr>
              <a:t>Cloud</a:t>
            </a:r>
            <a:r>
              <a:rPr lang="pl-PL" altLang="pl-PL" dirty="0">
                <a:latin typeface="Arial" panose="020B0604020202020204" pitchFamily="34" charset="0"/>
              </a:rPr>
              <a:t>-native </a:t>
            </a:r>
            <a:r>
              <a:rPr lang="pl-PL" altLang="pl-PL" dirty="0" err="1">
                <a:latin typeface="Arial" panose="020B0604020202020204" pitchFamily="34" charset="0"/>
              </a:rPr>
              <a:t>solutions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see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rising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future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demand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l-PL" altLang="pl-PL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b="1" dirty="0" err="1">
                <a:latin typeface="Arial" panose="020B0604020202020204" pitchFamily="34" charset="0"/>
              </a:rPr>
              <a:t>Demographics</a:t>
            </a:r>
            <a:r>
              <a:rPr lang="pl-PL" altLang="pl-PL" b="1" dirty="0">
                <a:latin typeface="Arial" panose="020B0604020202020204" pitchFamily="34" charset="0"/>
              </a:rPr>
              <a:t>:</a:t>
            </a:r>
            <a:r>
              <a:rPr lang="pl-PL" altLang="pl-PL" dirty="0">
                <a:latin typeface="Arial" panose="020B0604020202020204" pitchFamily="34" charset="0"/>
              </a:rPr>
              <a:t> The </a:t>
            </a:r>
            <a:r>
              <a:rPr lang="pl-PL" altLang="pl-PL" dirty="0" err="1">
                <a:latin typeface="Arial" panose="020B0604020202020204" pitchFamily="34" charset="0"/>
              </a:rPr>
              <a:t>workforce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is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primarily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composed</a:t>
            </a:r>
            <a:r>
              <a:rPr lang="pl-PL" altLang="pl-PL" dirty="0">
                <a:latin typeface="Arial" panose="020B0604020202020204" pitchFamily="34" charset="0"/>
              </a:rPr>
              <a:t> of </a:t>
            </a:r>
            <a:r>
              <a:rPr lang="pl-PL" altLang="pl-PL" dirty="0" err="1">
                <a:latin typeface="Arial" panose="020B0604020202020204" pitchFamily="34" charset="0"/>
              </a:rPr>
              <a:t>individuals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aged</a:t>
            </a:r>
            <a:r>
              <a:rPr lang="pl-PL" altLang="pl-PL" dirty="0">
                <a:latin typeface="Arial" panose="020B0604020202020204" pitchFamily="34" charset="0"/>
              </a:rPr>
              <a:t> 25-34, </a:t>
            </a:r>
            <a:r>
              <a:rPr lang="pl-PL" altLang="pl-PL" dirty="0" err="1">
                <a:latin typeface="Arial" panose="020B0604020202020204" pitchFamily="34" charset="0"/>
              </a:rPr>
              <a:t>highlighting</a:t>
            </a:r>
            <a:r>
              <a:rPr lang="pl-PL" altLang="pl-PL" dirty="0">
                <a:latin typeface="Arial" panose="020B0604020202020204" pitchFamily="34" charset="0"/>
              </a:rPr>
              <a:t> a </a:t>
            </a:r>
            <a:r>
              <a:rPr lang="pl-PL" altLang="pl-PL" dirty="0" err="1">
                <a:latin typeface="Arial" panose="020B0604020202020204" pitchFamily="34" charset="0"/>
              </a:rPr>
              <a:t>young</a:t>
            </a:r>
            <a:r>
              <a:rPr lang="pl-PL" altLang="pl-PL" dirty="0">
                <a:latin typeface="Arial" panose="020B0604020202020204" pitchFamily="34" charset="0"/>
              </a:rPr>
              <a:t>, </a:t>
            </a:r>
            <a:r>
              <a:rPr lang="pl-PL" altLang="pl-PL" dirty="0" err="1">
                <a:latin typeface="Arial" panose="020B0604020202020204" pitchFamily="34" charset="0"/>
              </a:rPr>
              <a:t>tech-savvy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global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demographic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A5E19D7-161D-DD70-0DE9-54F978E4FC0E}"/>
              </a:ext>
            </a:extLst>
          </p:cNvPr>
          <p:cNvSpPr txBox="1"/>
          <p:nvPr/>
        </p:nvSpPr>
        <p:spPr>
          <a:xfrm>
            <a:off x="4456785" y="2177076"/>
            <a:ext cx="672530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b="1" dirty="0" err="1">
                <a:latin typeface="Arial" panose="020B0604020202020204" pitchFamily="34" charset="0"/>
              </a:rPr>
              <a:t>Purpose</a:t>
            </a:r>
            <a:r>
              <a:rPr lang="pl-PL" altLang="pl-PL" b="1" dirty="0">
                <a:latin typeface="Arial" panose="020B0604020202020204" pitchFamily="34" charset="0"/>
              </a:rPr>
              <a:t>:</a:t>
            </a:r>
            <a:r>
              <a:rPr lang="pl-PL" altLang="pl-PL" dirty="0">
                <a:latin typeface="Arial" panose="020B0604020202020204" pitchFamily="34" charset="0"/>
              </a:rPr>
              <a:t> To </a:t>
            </a:r>
            <a:r>
              <a:rPr lang="pl-PL" altLang="pl-PL" dirty="0" err="1">
                <a:latin typeface="Arial" panose="020B0604020202020204" pitchFamily="34" charset="0"/>
              </a:rPr>
              <a:t>analyze</a:t>
            </a:r>
            <a:r>
              <a:rPr lang="pl-PL" altLang="pl-PL" dirty="0">
                <a:latin typeface="Arial" panose="020B0604020202020204" pitchFamily="34" charset="0"/>
              </a:rPr>
              <a:t> and </a:t>
            </a:r>
            <a:r>
              <a:rPr lang="pl-PL" altLang="pl-PL" dirty="0" err="1">
                <a:latin typeface="Arial" panose="020B0604020202020204" pitchFamily="34" charset="0"/>
              </a:rPr>
              <a:t>visualize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current</a:t>
            </a:r>
            <a:r>
              <a:rPr lang="pl-PL" altLang="pl-PL" dirty="0">
                <a:latin typeface="Arial" panose="020B0604020202020204" pitchFamily="34" charset="0"/>
              </a:rPr>
              <a:t> and </a:t>
            </a:r>
            <a:r>
              <a:rPr lang="pl-PL" altLang="pl-PL" dirty="0" err="1">
                <a:latin typeface="Arial" panose="020B0604020202020204" pitchFamily="34" charset="0"/>
              </a:rPr>
              <a:t>future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technology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trends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within</a:t>
            </a:r>
            <a:r>
              <a:rPr lang="pl-PL" altLang="pl-PL" dirty="0">
                <a:latin typeface="Arial" panose="020B0604020202020204" pitchFamily="34" charset="0"/>
              </a:rPr>
              <a:t> the </a:t>
            </a:r>
            <a:r>
              <a:rPr lang="pl-PL" altLang="pl-PL" dirty="0" err="1">
                <a:latin typeface="Arial" panose="020B0604020202020204" pitchFamily="34" charset="0"/>
              </a:rPr>
              <a:t>global</a:t>
            </a:r>
            <a:r>
              <a:rPr lang="pl-PL" altLang="pl-PL" dirty="0">
                <a:latin typeface="Arial" panose="020B0604020202020204" pitchFamily="34" charset="0"/>
              </a:rPr>
              <a:t> developer </a:t>
            </a:r>
            <a:r>
              <a:rPr lang="pl-PL" altLang="pl-PL" dirty="0" err="1">
                <a:latin typeface="Arial" panose="020B0604020202020204" pitchFamily="34" charset="0"/>
              </a:rPr>
              <a:t>community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b="1" dirty="0">
                <a:latin typeface="Arial" panose="020B0604020202020204" pitchFamily="34" charset="0"/>
              </a:rPr>
              <a:t>Target </a:t>
            </a:r>
            <a:r>
              <a:rPr lang="pl-PL" altLang="pl-PL" b="1" dirty="0" err="1">
                <a:latin typeface="Arial" panose="020B0604020202020204" pitchFamily="34" charset="0"/>
              </a:rPr>
              <a:t>Audience</a:t>
            </a:r>
            <a:r>
              <a:rPr lang="pl-PL" altLang="pl-PL" b="1" dirty="0">
                <a:latin typeface="Arial" panose="020B0604020202020204" pitchFamily="34" charset="0"/>
              </a:rPr>
              <a:t>: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CTOs</a:t>
            </a:r>
            <a:r>
              <a:rPr lang="pl-PL" altLang="pl-PL" dirty="0">
                <a:latin typeface="Arial" panose="020B0604020202020204" pitchFamily="34" charset="0"/>
              </a:rPr>
              <a:t>, IT </a:t>
            </a:r>
            <a:r>
              <a:rPr lang="pl-PL" altLang="pl-PL" dirty="0" err="1">
                <a:latin typeface="Arial" panose="020B0604020202020204" pitchFamily="34" charset="0"/>
              </a:rPr>
              <a:t>Recruitment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Managers</a:t>
            </a:r>
            <a:r>
              <a:rPr lang="pl-PL" altLang="pl-PL" dirty="0">
                <a:latin typeface="Arial" panose="020B0604020202020204" pitchFamily="34" charset="0"/>
              </a:rPr>
              <a:t>, and Software </a:t>
            </a:r>
            <a:r>
              <a:rPr lang="pl-PL" altLang="pl-PL" dirty="0" err="1">
                <a:latin typeface="Arial" panose="020B0604020202020204" pitchFamily="34" charset="0"/>
              </a:rPr>
              <a:t>Architects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b="1" dirty="0">
                <a:latin typeface="Arial" panose="020B0604020202020204" pitchFamily="34" charset="0"/>
              </a:rPr>
              <a:t>Value: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Provides</a:t>
            </a:r>
            <a:r>
              <a:rPr lang="pl-PL" altLang="pl-PL" dirty="0">
                <a:latin typeface="Arial" panose="020B0604020202020204" pitchFamily="34" charset="0"/>
              </a:rPr>
              <a:t> data-</a:t>
            </a:r>
            <a:r>
              <a:rPr lang="pl-PL" altLang="pl-PL" dirty="0" err="1">
                <a:latin typeface="Arial" panose="020B0604020202020204" pitchFamily="34" charset="0"/>
              </a:rPr>
              <a:t>driven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insights</a:t>
            </a:r>
            <a:r>
              <a:rPr lang="pl-PL" altLang="pl-PL" dirty="0">
                <a:latin typeface="Arial" panose="020B0604020202020204" pitchFamily="34" charset="0"/>
              </a:rPr>
              <a:t> for </a:t>
            </a:r>
            <a:r>
              <a:rPr lang="pl-PL" altLang="pl-PL" dirty="0" err="1">
                <a:latin typeface="Arial" panose="020B0604020202020204" pitchFamily="34" charset="0"/>
              </a:rPr>
              <a:t>strategic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technology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stack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selection</a:t>
            </a:r>
            <a:r>
              <a:rPr lang="pl-PL" altLang="pl-PL" dirty="0">
                <a:latin typeface="Arial" panose="020B0604020202020204" pitchFamily="34" charset="0"/>
              </a:rPr>
              <a:t> and talent </a:t>
            </a:r>
            <a:r>
              <a:rPr lang="pl-PL" altLang="pl-PL" dirty="0" err="1">
                <a:latin typeface="Arial" panose="020B0604020202020204" pitchFamily="34" charset="0"/>
              </a:rPr>
              <a:t>acquisition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planning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93D495D9-9BA1-C8BA-62DB-D86D7BDF44C4}"/>
              </a:ext>
            </a:extLst>
          </p:cNvPr>
          <p:cNvSpPr txBox="1"/>
          <p:nvPr/>
        </p:nvSpPr>
        <p:spPr>
          <a:xfrm>
            <a:off x="4609577" y="1941534"/>
            <a:ext cx="6967667" cy="354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Data </a:t>
            </a:r>
            <a:r>
              <a:rPr lang="pl-PL" b="1" dirty="0" err="1"/>
              <a:t>Sources</a:t>
            </a:r>
            <a:r>
              <a:rPr lang="pl-PL" b="1" dirty="0"/>
              <a:t>:</a:t>
            </a:r>
            <a:r>
              <a:rPr lang="pl-PL" dirty="0"/>
              <a:t> </a:t>
            </a:r>
            <a:r>
              <a:rPr lang="pl-PL" dirty="0" err="1"/>
              <a:t>Stack</a:t>
            </a:r>
            <a:r>
              <a:rPr lang="pl-PL" dirty="0"/>
              <a:t> </a:t>
            </a:r>
            <a:r>
              <a:rPr lang="pl-PL" dirty="0" err="1"/>
              <a:t>Overflow</a:t>
            </a:r>
            <a:r>
              <a:rPr lang="pl-PL" dirty="0"/>
              <a:t> </a:t>
            </a:r>
            <a:r>
              <a:rPr lang="pl-PL" dirty="0" err="1"/>
              <a:t>Annual</a:t>
            </a:r>
            <a:r>
              <a:rPr lang="pl-PL" dirty="0"/>
              <a:t> Developer </a:t>
            </a:r>
            <a:r>
              <a:rPr lang="pl-PL" dirty="0" err="1"/>
              <a:t>Survey</a:t>
            </a:r>
            <a:r>
              <a:rPr lang="pl-PL" dirty="0"/>
              <a:t>.</a:t>
            </a:r>
          </a:p>
          <a:p>
            <a:endParaRPr lang="pl-PL" b="1" dirty="0"/>
          </a:p>
          <a:p>
            <a:r>
              <a:rPr lang="pl-PL" b="1" dirty="0"/>
              <a:t>Collection </a:t>
            </a:r>
            <a:r>
              <a:rPr lang="pl-PL" b="1" dirty="0" err="1"/>
              <a:t>Methods</a:t>
            </a:r>
            <a:r>
              <a:rPr lang="pl-PL" b="1" dirty="0"/>
              <a:t>:</a:t>
            </a:r>
            <a:r>
              <a:rPr lang="pl-PL" dirty="0"/>
              <a:t> Data was </a:t>
            </a:r>
            <a:r>
              <a:rPr lang="pl-PL" dirty="0" err="1"/>
              <a:t>retrieved</a:t>
            </a:r>
            <a:r>
              <a:rPr lang="pl-PL" dirty="0"/>
              <a:t> </a:t>
            </a: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b="1" dirty="0"/>
              <a:t>Web </a:t>
            </a:r>
            <a:r>
              <a:rPr lang="pl-PL" b="1" dirty="0" err="1"/>
              <a:t>Scraping</a:t>
            </a:r>
            <a:r>
              <a:rPr lang="pl-PL" dirty="0"/>
              <a:t> (</a:t>
            </a:r>
            <a:r>
              <a:rPr lang="pl-PL" dirty="0" err="1"/>
              <a:t>BeautifulSoup</a:t>
            </a:r>
            <a:r>
              <a:rPr lang="pl-PL" dirty="0"/>
              <a:t>) and </a:t>
            </a:r>
            <a:r>
              <a:rPr lang="pl-PL" b="1" dirty="0"/>
              <a:t>REST </a:t>
            </a:r>
            <a:r>
              <a:rPr lang="pl-PL" b="1" dirty="0" err="1"/>
              <a:t>APIs</a:t>
            </a:r>
            <a:r>
              <a:rPr lang="pl-PL" dirty="0"/>
              <a:t>.</a:t>
            </a:r>
          </a:p>
          <a:p>
            <a:endParaRPr lang="pl-PL" b="1" dirty="0"/>
          </a:p>
          <a:p>
            <a:r>
              <a:rPr lang="pl-PL" b="1" dirty="0" err="1"/>
              <a:t>Wrangling</a:t>
            </a:r>
            <a:r>
              <a:rPr lang="pl-PL" b="1" dirty="0"/>
              <a:t> </a:t>
            </a:r>
            <a:r>
              <a:rPr lang="pl-PL" b="1" dirty="0" err="1"/>
              <a:t>Steps</a:t>
            </a:r>
            <a:r>
              <a:rPr lang="pl-PL" b="1" dirty="0"/>
              <a:t>:</a:t>
            </a:r>
            <a:endParaRPr lang="pl-PL" dirty="0"/>
          </a:p>
          <a:p>
            <a:pPr lvl="1"/>
            <a:r>
              <a:rPr lang="pl-PL" dirty="0" err="1"/>
              <a:t>Removed</a:t>
            </a:r>
            <a:r>
              <a:rPr lang="pl-PL" dirty="0"/>
              <a:t> </a:t>
            </a:r>
            <a:r>
              <a:rPr lang="pl-PL" dirty="0" err="1"/>
              <a:t>duplicate</a:t>
            </a:r>
            <a:r>
              <a:rPr lang="pl-PL" dirty="0"/>
              <a:t> </a:t>
            </a:r>
            <a:r>
              <a:rPr lang="pl-PL" dirty="0" err="1"/>
              <a:t>entries</a:t>
            </a:r>
            <a:r>
              <a:rPr lang="pl-PL" dirty="0"/>
              <a:t> </a:t>
            </a:r>
            <a:r>
              <a:rPr lang="pl-PL" dirty="0" err="1"/>
              <a:t>based</a:t>
            </a:r>
            <a:r>
              <a:rPr lang="pl-PL" dirty="0"/>
              <a:t> on </a:t>
            </a:r>
            <a:r>
              <a:rPr lang="pl-PL" dirty="0" err="1"/>
              <a:t>ResponseId</a:t>
            </a:r>
            <a:r>
              <a:rPr lang="pl-PL" dirty="0"/>
              <a:t>.</a:t>
            </a:r>
          </a:p>
          <a:p>
            <a:pPr lvl="1"/>
            <a:r>
              <a:rPr lang="pl-PL" dirty="0" err="1"/>
              <a:t>Handled</a:t>
            </a:r>
            <a:r>
              <a:rPr lang="pl-PL" dirty="0"/>
              <a:t> missing </a:t>
            </a:r>
            <a:r>
              <a:rPr lang="pl-PL" dirty="0" err="1"/>
              <a:t>values</a:t>
            </a:r>
            <a:r>
              <a:rPr lang="pl-PL" dirty="0"/>
              <a:t> to </a:t>
            </a:r>
            <a:r>
              <a:rPr lang="pl-PL" dirty="0" err="1"/>
              <a:t>ensure</a:t>
            </a:r>
            <a:r>
              <a:rPr lang="pl-PL" dirty="0"/>
              <a:t> </a:t>
            </a:r>
            <a:r>
              <a:rPr lang="pl-PL" dirty="0" err="1"/>
              <a:t>statistical</a:t>
            </a:r>
            <a:r>
              <a:rPr lang="pl-PL" dirty="0"/>
              <a:t> </a:t>
            </a:r>
            <a:r>
              <a:rPr lang="pl-PL" dirty="0" err="1"/>
              <a:t>integrity</a:t>
            </a:r>
            <a:r>
              <a:rPr lang="pl-PL" dirty="0"/>
              <a:t>.</a:t>
            </a:r>
          </a:p>
          <a:p>
            <a:pPr lvl="1"/>
            <a:r>
              <a:rPr lang="pl-PL" b="1" dirty="0" err="1"/>
              <a:t>Normalization</a:t>
            </a:r>
            <a:r>
              <a:rPr lang="pl-PL" b="1" dirty="0"/>
              <a:t>:</a:t>
            </a:r>
            <a:r>
              <a:rPr lang="pl-PL" dirty="0"/>
              <a:t> </a:t>
            </a:r>
            <a:r>
              <a:rPr lang="pl-PL" dirty="0" err="1"/>
              <a:t>Transformed</a:t>
            </a:r>
            <a:r>
              <a:rPr lang="pl-PL" dirty="0"/>
              <a:t> </a:t>
            </a:r>
            <a:r>
              <a:rPr lang="pl-PL" dirty="0" err="1"/>
              <a:t>multi-select</a:t>
            </a:r>
            <a:r>
              <a:rPr lang="pl-PL" dirty="0"/>
              <a:t> </a:t>
            </a:r>
            <a:r>
              <a:rPr lang="pl-PL" dirty="0" err="1"/>
              <a:t>columns</a:t>
            </a:r>
            <a:r>
              <a:rPr lang="pl-PL" dirty="0"/>
              <a:t> (</a:t>
            </a:r>
            <a:r>
              <a:rPr lang="pl-PL" dirty="0" err="1"/>
              <a:t>e.g</a:t>
            </a:r>
            <a:r>
              <a:rPr lang="pl-PL" dirty="0"/>
              <a:t>., </a:t>
            </a:r>
            <a:r>
              <a:rPr lang="pl-PL" dirty="0" err="1"/>
              <a:t>Languages</a:t>
            </a:r>
            <a:r>
              <a:rPr lang="pl-PL" dirty="0"/>
              <a:t>) </a:t>
            </a:r>
            <a:r>
              <a:rPr lang="pl-PL" dirty="0" err="1"/>
              <a:t>into</a:t>
            </a:r>
            <a:r>
              <a:rPr lang="pl-PL" dirty="0"/>
              <a:t> a </a:t>
            </a:r>
            <a:r>
              <a:rPr lang="pl-PL" dirty="0" err="1"/>
              <a:t>long</a:t>
            </a:r>
            <a:r>
              <a:rPr lang="pl-PL" dirty="0"/>
              <a:t> format </a:t>
            </a:r>
            <a:r>
              <a:rPr lang="pl-PL" dirty="0" err="1"/>
              <a:t>using</a:t>
            </a:r>
            <a:r>
              <a:rPr lang="pl-PL" dirty="0"/>
              <a:t> </a:t>
            </a:r>
            <a:r>
              <a:rPr lang="pl-PL" dirty="0" err="1"/>
              <a:t>Pandas</a:t>
            </a:r>
            <a:r>
              <a:rPr lang="pl-PL" dirty="0"/>
              <a:t> </a:t>
            </a:r>
            <a:r>
              <a:rPr lang="pl-PL" dirty="0" err="1"/>
              <a:t>explode</a:t>
            </a:r>
            <a:r>
              <a:rPr lang="pl-PL" dirty="0"/>
              <a:t> for </a:t>
            </a:r>
            <a:r>
              <a:rPr lang="pl-PL" dirty="0" err="1"/>
              <a:t>accurate</a:t>
            </a:r>
            <a:r>
              <a:rPr lang="pl-PL" dirty="0"/>
              <a:t> </a:t>
            </a:r>
            <a:r>
              <a:rPr lang="pl-PL" dirty="0" err="1"/>
              <a:t>frequency</a:t>
            </a:r>
            <a:r>
              <a:rPr lang="pl-PL" dirty="0"/>
              <a:t> </a:t>
            </a:r>
            <a:r>
              <a:rPr lang="pl-PL" dirty="0" err="1"/>
              <a:t>analysis</a:t>
            </a:r>
            <a:r>
              <a:rPr lang="pl-PL" dirty="0"/>
              <a:t>.</a:t>
            </a:r>
          </a:p>
          <a:p>
            <a:endParaRPr lang="pl-P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579BEAE0-4943-73A2-9F09-203F7B655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3" y="2506661"/>
            <a:ext cx="5493254" cy="3068633"/>
          </a:xfrm>
          <a:prstGeom prst="rect">
            <a:avLst/>
          </a:prstGeom>
        </p:spPr>
      </p:pic>
      <p:pic>
        <p:nvPicPr>
          <p:cNvPr id="14" name="Obraz 13" descr="Obraz zawierający tekst, zrzut ekranu, Wielobarwność, linia&#10;&#10;Zawartość wygenerowana przez AI może być niepoprawna.">
            <a:extLst>
              <a:ext uri="{FF2B5EF4-FFF2-40B4-BE49-F238E27FC236}">
                <a16:creationId xmlns:a16="http://schemas.microsoft.com/office/drawing/2014/main" id="{42FF055A-0E28-3EFA-DE99-228C172A9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949" y="2506661"/>
            <a:ext cx="5710028" cy="3135959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E5CCB45-A57A-C99D-B7EF-CD7A2AA65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698483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5B65E57-18D3-E1FC-3162-A8980081D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8483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299AF-2E6B-C924-47D9-3E5CA7FE4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7D769D2-019D-9DAC-19B3-75E4FE67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A94485-936F-0028-0E22-DEE82A7B731C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B939451-A2B0-E852-A844-0708AB77074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762F8F57-C61F-92E6-5B33-19C7E714E998}"/>
              </a:ext>
            </a:extLst>
          </p:cNvPr>
          <p:cNvSpPr txBox="1"/>
          <p:nvPr/>
        </p:nvSpPr>
        <p:spPr>
          <a:xfrm>
            <a:off x="1404851" y="2110317"/>
            <a:ext cx="85725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2400" b="1" dirty="0" err="1">
                <a:latin typeface="Arial" panose="020B0604020202020204" pitchFamily="34" charset="0"/>
              </a:rPr>
              <a:t>Findings</a:t>
            </a:r>
            <a:r>
              <a:rPr lang="pl-PL" altLang="pl-PL" sz="2400" b="1" dirty="0">
                <a:latin typeface="Arial" panose="020B0604020202020204" pitchFamily="34" charset="0"/>
              </a:rPr>
              <a:t>:</a:t>
            </a:r>
            <a:r>
              <a:rPr lang="pl-PL" altLang="pl-PL" sz="2400" dirty="0">
                <a:latin typeface="Arial" panose="020B0604020202020204" pitchFamily="34" charset="0"/>
              </a:rPr>
              <a:t> JavaScript </a:t>
            </a:r>
            <a:r>
              <a:rPr lang="pl-PL" altLang="pl-PL" sz="2400" dirty="0" err="1">
                <a:latin typeface="Arial" panose="020B0604020202020204" pitchFamily="34" charset="0"/>
              </a:rPr>
              <a:t>continues</a:t>
            </a:r>
            <a:r>
              <a:rPr lang="pl-PL" altLang="pl-PL" sz="2400" dirty="0">
                <a:latin typeface="Arial" panose="020B0604020202020204" pitchFamily="34" charset="0"/>
              </a:rPr>
              <a:t> to </a:t>
            </a:r>
            <a:r>
              <a:rPr lang="pl-PL" altLang="pl-PL" sz="2400" dirty="0" err="1">
                <a:latin typeface="Arial" panose="020B0604020202020204" pitchFamily="34" charset="0"/>
              </a:rPr>
              <a:t>lead</a:t>
            </a:r>
            <a:r>
              <a:rPr lang="pl-PL" altLang="pl-PL" sz="2400" dirty="0">
                <a:latin typeface="Arial" panose="020B0604020202020204" pitchFamily="34" charset="0"/>
              </a:rPr>
              <a:t> in </a:t>
            </a:r>
            <a:r>
              <a:rPr lang="pl-PL" altLang="pl-PL" sz="2400" dirty="0" err="1">
                <a:latin typeface="Arial" panose="020B0604020202020204" pitchFamily="34" charset="0"/>
              </a:rPr>
              <a:t>current</a:t>
            </a:r>
            <a:r>
              <a:rPr lang="pl-PL" altLang="pl-PL" sz="2400" dirty="0">
                <a:latin typeface="Arial" panose="020B0604020202020204" pitchFamily="34" charset="0"/>
              </a:rPr>
              <a:t> </a:t>
            </a:r>
            <a:r>
              <a:rPr lang="pl-PL" altLang="pl-PL" sz="2400" dirty="0" err="1">
                <a:latin typeface="Arial" panose="020B0604020202020204" pitchFamily="34" charset="0"/>
              </a:rPr>
              <a:t>deployment</a:t>
            </a:r>
            <a:r>
              <a:rPr lang="pl-PL" altLang="pl-PL" sz="2400" dirty="0">
                <a:latin typeface="Arial" panose="020B0604020202020204" pitchFamily="34" charset="0"/>
              </a:rPr>
              <a:t>, but </a:t>
            </a:r>
            <a:r>
              <a:rPr lang="pl-PL" altLang="pl-PL" sz="2400" dirty="0" err="1">
                <a:latin typeface="Arial" panose="020B0604020202020204" pitchFamily="34" charset="0"/>
              </a:rPr>
              <a:t>Python</a:t>
            </a:r>
            <a:r>
              <a:rPr lang="pl-PL" altLang="pl-PL" sz="2400" dirty="0">
                <a:latin typeface="Arial" panose="020B0604020202020204" pitchFamily="34" charset="0"/>
              </a:rPr>
              <a:t> </a:t>
            </a:r>
            <a:r>
              <a:rPr lang="pl-PL" altLang="pl-PL" sz="2400" dirty="0" err="1">
                <a:latin typeface="Arial" panose="020B0604020202020204" pitchFamily="34" charset="0"/>
              </a:rPr>
              <a:t>is</a:t>
            </a:r>
            <a:r>
              <a:rPr lang="pl-PL" altLang="pl-PL" sz="2400" dirty="0">
                <a:latin typeface="Arial" panose="020B0604020202020204" pitchFamily="34" charset="0"/>
              </a:rPr>
              <a:t> the most "</a:t>
            </a:r>
            <a:r>
              <a:rPr lang="pl-PL" altLang="pl-PL" sz="2400" dirty="0" err="1">
                <a:latin typeface="Arial" panose="020B0604020202020204" pitchFamily="34" charset="0"/>
              </a:rPr>
              <a:t>Desired</a:t>
            </a:r>
            <a:r>
              <a:rPr lang="pl-PL" altLang="pl-PL" sz="2400" dirty="0">
                <a:latin typeface="Arial" panose="020B0604020202020204" pitchFamily="34" charset="0"/>
              </a:rPr>
              <a:t>" </a:t>
            </a:r>
            <a:r>
              <a:rPr lang="pl-PL" altLang="pl-PL" sz="2400" dirty="0" err="1">
                <a:latin typeface="Arial" panose="020B0604020202020204" pitchFamily="34" charset="0"/>
              </a:rPr>
              <a:t>language</a:t>
            </a:r>
            <a:r>
              <a:rPr lang="pl-PL" altLang="pl-PL" sz="2400" dirty="0">
                <a:latin typeface="Arial" panose="020B0604020202020204" pitchFamily="34" charset="0"/>
              </a:rPr>
              <a:t> for the </a:t>
            </a:r>
            <a:r>
              <a:rPr lang="pl-PL" altLang="pl-PL" sz="2400" dirty="0" err="1">
                <a:latin typeface="Arial" panose="020B0604020202020204" pitchFamily="34" charset="0"/>
              </a:rPr>
              <a:t>upcoming</a:t>
            </a:r>
            <a:r>
              <a:rPr lang="pl-PL" altLang="pl-PL" sz="2400" dirty="0">
                <a:latin typeface="Arial" panose="020B0604020202020204" pitchFamily="34" charset="0"/>
              </a:rPr>
              <a:t> </a:t>
            </a:r>
            <a:r>
              <a:rPr lang="pl-PL" altLang="pl-PL" sz="2400" dirty="0" err="1">
                <a:latin typeface="Arial" panose="020B0604020202020204" pitchFamily="34" charset="0"/>
              </a:rPr>
              <a:t>year</a:t>
            </a:r>
            <a:r>
              <a:rPr lang="pl-PL" altLang="pl-PL" sz="2400" dirty="0"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2400" b="1" dirty="0" err="1">
                <a:latin typeface="Arial" panose="020B0604020202020204" pitchFamily="34" charset="0"/>
              </a:rPr>
              <a:t>Implications</a:t>
            </a:r>
            <a:r>
              <a:rPr lang="pl-PL" altLang="pl-PL" sz="2400" b="1" dirty="0">
                <a:latin typeface="Arial" panose="020B0604020202020204" pitchFamily="34" charset="0"/>
              </a:rPr>
              <a:t>:</a:t>
            </a:r>
            <a:r>
              <a:rPr lang="pl-PL" altLang="pl-PL" sz="2400" dirty="0">
                <a:latin typeface="Arial" panose="020B0604020202020204" pitchFamily="34" charset="0"/>
              </a:rPr>
              <a:t> </a:t>
            </a:r>
            <a:r>
              <a:rPr lang="pl-PL" altLang="pl-PL" sz="2400" dirty="0" err="1">
                <a:latin typeface="Arial" panose="020B0604020202020204" pitchFamily="34" charset="0"/>
              </a:rPr>
              <a:t>Organizations</a:t>
            </a:r>
            <a:r>
              <a:rPr lang="pl-PL" altLang="pl-PL" sz="2400" dirty="0">
                <a:latin typeface="Arial" panose="020B0604020202020204" pitchFamily="34" charset="0"/>
              </a:rPr>
              <a:t> </a:t>
            </a:r>
            <a:r>
              <a:rPr lang="pl-PL" altLang="pl-PL" sz="2400" dirty="0" err="1">
                <a:latin typeface="Arial" panose="020B0604020202020204" pitchFamily="34" charset="0"/>
              </a:rPr>
              <a:t>should</a:t>
            </a:r>
            <a:r>
              <a:rPr lang="pl-PL" altLang="pl-PL" sz="2400" dirty="0">
                <a:latin typeface="Arial" panose="020B0604020202020204" pitchFamily="34" charset="0"/>
              </a:rPr>
              <a:t> </a:t>
            </a:r>
            <a:r>
              <a:rPr lang="pl-PL" altLang="pl-PL" sz="2400" dirty="0" err="1">
                <a:latin typeface="Arial" panose="020B0604020202020204" pitchFamily="34" charset="0"/>
              </a:rPr>
              <a:t>focus</a:t>
            </a:r>
            <a:r>
              <a:rPr lang="pl-PL" altLang="pl-PL" sz="2400" dirty="0">
                <a:latin typeface="Arial" panose="020B0604020202020204" pitchFamily="34" charset="0"/>
              </a:rPr>
              <a:t> on </a:t>
            </a:r>
            <a:r>
              <a:rPr lang="pl-PL" altLang="pl-PL" sz="2400" dirty="0" err="1">
                <a:latin typeface="Arial" panose="020B0604020202020204" pitchFamily="34" charset="0"/>
              </a:rPr>
              <a:t>Python-related</a:t>
            </a:r>
            <a:r>
              <a:rPr lang="pl-PL" altLang="pl-PL" sz="2400" dirty="0">
                <a:latin typeface="Arial" panose="020B0604020202020204" pitchFamily="34" charset="0"/>
              </a:rPr>
              <a:t> </a:t>
            </a:r>
            <a:r>
              <a:rPr lang="pl-PL" altLang="pl-PL" sz="2400" dirty="0" err="1">
                <a:latin typeface="Arial" panose="020B0604020202020204" pitchFamily="34" charset="0"/>
              </a:rPr>
              <a:t>upskilling</a:t>
            </a:r>
            <a:r>
              <a:rPr lang="pl-PL" altLang="pl-PL" sz="2400" dirty="0">
                <a:latin typeface="Arial" panose="020B0604020202020204" pitchFamily="34" charset="0"/>
              </a:rPr>
              <a:t> to </a:t>
            </a:r>
            <a:r>
              <a:rPr lang="pl-PL" altLang="pl-PL" sz="2400" dirty="0" err="1">
                <a:latin typeface="Arial" panose="020B0604020202020204" pitchFamily="34" charset="0"/>
              </a:rPr>
              <a:t>align</a:t>
            </a:r>
            <a:r>
              <a:rPr lang="pl-PL" altLang="pl-PL" sz="2400" dirty="0">
                <a:latin typeface="Arial" panose="020B0604020202020204" pitchFamily="34" charset="0"/>
              </a:rPr>
              <a:t> with developer </a:t>
            </a:r>
            <a:r>
              <a:rPr lang="pl-PL" altLang="pl-PL" sz="2400" dirty="0" err="1">
                <a:latin typeface="Arial" panose="020B0604020202020204" pitchFamily="34" charset="0"/>
              </a:rPr>
              <a:t>interests</a:t>
            </a:r>
            <a:r>
              <a:rPr lang="pl-PL" altLang="pl-PL" sz="2400" dirty="0">
                <a:latin typeface="Arial" panose="020B0604020202020204" pitchFamily="34" charset="0"/>
              </a:rPr>
              <a:t> and the </a:t>
            </a:r>
            <a:r>
              <a:rPr lang="pl-PL" altLang="pl-PL" sz="2400" dirty="0" err="1">
                <a:latin typeface="Arial" panose="020B0604020202020204" pitchFamily="34" charset="0"/>
              </a:rPr>
              <a:t>rise</a:t>
            </a:r>
            <a:r>
              <a:rPr lang="pl-PL" altLang="pl-PL" sz="2400" dirty="0">
                <a:latin typeface="Arial" panose="020B0604020202020204" pitchFamily="34" charset="0"/>
              </a:rPr>
              <a:t> of AI/Data Science.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383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 chart of top 10 databases for the next year goes here.&gt;</a:t>
            </a:r>
          </a:p>
        </p:txBody>
      </p:sp>
      <p:pic>
        <p:nvPicPr>
          <p:cNvPr id="12" name="Obraz 11" descr="Obraz zawierający tekst, zrzut ekranu, diagram, linia&#10;&#10;Zawartość wygenerowana przez AI może być niepoprawna.">
            <a:extLst>
              <a:ext uri="{FF2B5EF4-FFF2-40B4-BE49-F238E27FC236}">
                <a16:creationId xmlns:a16="http://schemas.microsoft.com/office/drawing/2014/main" id="{B70C5EDF-9C11-317B-E927-0B3AE7D06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409" y="2398858"/>
            <a:ext cx="5414392" cy="3038185"/>
          </a:xfrm>
          <a:prstGeom prst="rect">
            <a:avLst/>
          </a:prstGeom>
        </p:spPr>
      </p:pic>
      <p:pic>
        <p:nvPicPr>
          <p:cNvPr id="14" name="Obraz 13" descr="Obraz zawierający tekst, Wykres, Wielobarwność, linia&#10;&#10;Zawartość wygenerowana przez AI może być niepoprawna.">
            <a:extLst>
              <a:ext uri="{FF2B5EF4-FFF2-40B4-BE49-F238E27FC236}">
                <a16:creationId xmlns:a16="http://schemas.microsoft.com/office/drawing/2014/main" id="{BD12EDFE-EC15-EB91-C073-927BEB593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686" y="2398858"/>
            <a:ext cx="5414393" cy="29319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" y="365125"/>
            <a:ext cx="12094029" cy="1325563"/>
          </a:xfrm>
        </p:spPr>
        <p:txBody>
          <a:bodyPr/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289DBB6-00A5-A509-3038-4C56748DEA1A}"/>
              </a:ext>
            </a:extLst>
          </p:cNvPr>
          <p:cNvSpPr txBox="1"/>
          <p:nvPr/>
        </p:nvSpPr>
        <p:spPr>
          <a:xfrm>
            <a:off x="818146" y="2187993"/>
            <a:ext cx="89862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b="1" dirty="0" err="1"/>
              <a:t>Findings</a:t>
            </a:r>
            <a:r>
              <a:rPr lang="pl-PL" sz="2400" b="1" dirty="0"/>
              <a:t>:</a:t>
            </a:r>
            <a:r>
              <a:rPr lang="pl-PL" sz="2400" dirty="0"/>
              <a:t> </a:t>
            </a:r>
            <a:r>
              <a:rPr lang="pl-PL" sz="2400" dirty="0" err="1"/>
              <a:t>PostgreSQL</a:t>
            </a:r>
            <a:r>
              <a:rPr lang="pl-PL" sz="2400" dirty="0"/>
              <a:t> and MySQL </a:t>
            </a:r>
            <a:r>
              <a:rPr lang="pl-PL" sz="2400" dirty="0" err="1"/>
              <a:t>are</a:t>
            </a:r>
            <a:r>
              <a:rPr lang="pl-PL" sz="2400" dirty="0"/>
              <a:t> the </a:t>
            </a:r>
            <a:r>
              <a:rPr lang="pl-PL" sz="2400" dirty="0" err="1"/>
              <a:t>current</a:t>
            </a:r>
            <a:r>
              <a:rPr lang="pl-PL" sz="2400" dirty="0"/>
              <a:t> </a:t>
            </a:r>
            <a:r>
              <a:rPr lang="pl-PL" sz="2400" dirty="0" err="1"/>
              <a:t>industry</a:t>
            </a:r>
            <a:r>
              <a:rPr lang="pl-PL" sz="2400" dirty="0"/>
              <a:t> </a:t>
            </a:r>
            <a:r>
              <a:rPr lang="pl-PL" sz="2400" dirty="0" err="1"/>
              <a:t>standards</a:t>
            </a:r>
            <a:r>
              <a:rPr lang="pl-PL" sz="2400" dirty="0"/>
              <a:t>, but </a:t>
            </a:r>
            <a:r>
              <a:rPr lang="pl-PL" sz="2400" dirty="0" err="1"/>
              <a:t>there</a:t>
            </a:r>
            <a:r>
              <a:rPr lang="pl-PL" sz="2400" dirty="0"/>
              <a:t> </a:t>
            </a:r>
            <a:r>
              <a:rPr lang="pl-PL" sz="2400" dirty="0" err="1"/>
              <a:t>is</a:t>
            </a:r>
            <a:r>
              <a:rPr lang="pl-PL" sz="2400" dirty="0"/>
              <a:t> </a:t>
            </a:r>
            <a:r>
              <a:rPr lang="pl-PL" sz="2400" dirty="0" err="1"/>
              <a:t>significant</a:t>
            </a:r>
            <a:r>
              <a:rPr lang="pl-PL" sz="2400" dirty="0"/>
              <a:t> </a:t>
            </a:r>
            <a:r>
              <a:rPr lang="pl-PL" sz="2400" dirty="0" err="1"/>
              <a:t>growth</a:t>
            </a:r>
            <a:r>
              <a:rPr lang="pl-PL" sz="2400" dirty="0"/>
              <a:t> in </a:t>
            </a:r>
            <a:r>
              <a:rPr lang="pl-PL" sz="2400" dirty="0" err="1"/>
              <a:t>interest</a:t>
            </a:r>
            <a:r>
              <a:rPr lang="pl-PL" sz="2400" dirty="0"/>
              <a:t> for </a:t>
            </a:r>
            <a:r>
              <a:rPr lang="pl-PL" sz="2400" dirty="0" err="1"/>
              <a:t>MongoDB</a:t>
            </a:r>
            <a:r>
              <a:rPr lang="pl-PL" sz="2400" dirty="0"/>
              <a:t> and </a:t>
            </a:r>
            <a:r>
              <a:rPr lang="pl-PL" sz="2400" dirty="0" err="1"/>
              <a:t>Redis</a:t>
            </a:r>
            <a:r>
              <a:rPr lang="pl-PL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b="1" dirty="0" err="1"/>
              <a:t>Implications</a:t>
            </a:r>
            <a:r>
              <a:rPr lang="pl-PL" sz="2400" b="1" dirty="0"/>
              <a:t>:</a:t>
            </a:r>
            <a:r>
              <a:rPr lang="pl-PL" sz="2400" dirty="0"/>
              <a:t> The </a:t>
            </a:r>
            <a:r>
              <a:rPr lang="pl-PL" sz="2400" dirty="0" err="1"/>
              <a:t>move</a:t>
            </a:r>
            <a:r>
              <a:rPr lang="pl-PL" sz="2400" dirty="0"/>
              <a:t> </a:t>
            </a:r>
            <a:r>
              <a:rPr lang="pl-PL" sz="2400" dirty="0" err="1"/>
              <a:t>toward</a:t>
            </a:r>
            <a:r>
              <a:rPr lang="pl-PL" sz="2400" dirty="0"/>
              <a:t> </a:t>
            </a:r>
            <a:r>
              <a:rPr lang="pl-PL" sz="2400" dirty="0" err="1"/>
              <a:t>NoSQL</a:t>
            </a:r>
            <a:r>
              <a:rPr lang="pl-PL" sz="2400" dirty="0"/>
              <a:t> </a:t>
            </a:r>
            <a:r>
              <a:rPr lang="pl-PL" sz="2400" dirty="0" err="1"/>
              <a:t>suggests</a:t>
            </a:r>
            <a:r>
              <a:rPr lang="pl-PL" sz="2400" dirty="0"/>
              <a:t> a trend </a:t>
            </a:r>
            <a:r>
              <a:rPr lang="pl-PL" sz="2400" dirty="0" err="1"/>
              <a:t>toward</a:t>
            </a:r>
            <a:r>
              <a:rPr lang="pl-PL" sz="2400" dirty="0"/>
              <a:t> </a:t>
            </a:r>
            <a:r>
              <a:rPr lang="pl-PL" sz="2400" dirty="0" err="1"/>
              <a:t>more</a:t>
            </a:r>
            <a:r>
              <a:rPr lang="pl-PL" sz="2400" dirty="0"/>
              <a:t> </a:t>
            </a:r>
            <a:r>
              <a:rPr lang="pl-PL" sz="2400" dirty="0" err="1"/>
              <a:t>flexible</a:t>
            </a:r>
            <a:r>
              <a:rPr lang="pl-PL" sz="2400" dirty="0"/>
              <a:t>, </a:t>
            </a:r>
            <a:r>
              <a:rPr lang="pl-PL" sz="2400" dirty="0" err="1"/>
              <a:t>scalable</a:t>
            </a:r>
            <a:r>
              <a:rPr lang="pl-PL" sz="2400" dirty="0"/>
              <a:t> data </a:t>
            </a:r>
            <a:r>
              <a:rPr lang="pl-PL" sz="2400" dirty="0" err="1"/>
              <a:t>architectures</a:t>
            </a:r>
            <a:r>
              <a:rPr lang="pl-PL" sz="2400" dirty="0"/>
              <a:t> for modern </a:t>
            </a:r>
            <a:r>
              <a:rPr lang="pl-PL" sz="2400" dirty="0" err="1"/>
              <a:t>applications</a:t>
            </a:r>
            <a:r>
              <a:rPr lang="pl-PL" sz="2400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&lt;Please present your dashboard in the following slides.&gt;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1</a:t>
            </a:r>
          </a:p>
        </p:txBody>
      </p:sp>
      <p:pic>
        <p:nvPicPr>
          <p:cNvPr id="9" name="Symbol zastępczy zawartości 8" descr="Obraz zawierający diagram, tekst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D0D4D3E9-651C-9314-0418-ED1743CAC5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773767" y="1388901"/>
            <a:ext cx="8644466" cy="493226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2</a:t>
            </a:r>
          </a:p>
        </p:txBody>
      </p:sp>
      <p:pic>
        <p:nvPicPr>
          <p:cNvPr id="7" name="Obraz 6" descr="Obraz zawierający diagram, zrzut ekranu, Wykres&#10;&#10;Zawartość wygenerowana przez AI może być niepoprawna.">
            <a:extLst>
              <a:ext uri="{FF2B5EF4-FFF2-40B4-BE49-F238E27FC236}">
                <a16:creationId xmlns:a16="http://schemas.microsoft.com/office/drawing/2014/main" id="{3E2CADB2-F1FC-22FC-2D05-7311E4223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0" y="1690688"/>
            <a:ext cx="8331200" cy="47145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3</a:t>
            </a:r>
          </a:p>
        </p:txBody>
      </p:sp>
      <p:pic>
        <p:nvPicPr>
          <p:cNvPr id="7" name="Obraz 6" descr="Obraz zawierający diagram, zrzut ekranu, tekst, Wykres&#10;&#10;Zawartość wygenerowana przez AI może być niepoprawna.">
            <a:extLst>
              <a:ext uri="{FF2B5EF4-FFF2-40B4-BE49-F238E27FC236}">
                <a16:creationId xmlns:a16="http://schemas.microsoft.com/office/drawing/2014/main" id="{4E842EDC-401D-3B86-88FA-82CA2C777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217" y="1690688"/>
            <a:ext cx="8395565" cy="47782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D765CFF3-B211-3B31-2ADE-58FE4D18B17F}"/>
              </a:ext>
            </a:extLst>
          </p:cNvPr>
          <p:cNvSpPr txBox="1"/>
          <p:nvPr/>
        </p:nvSpPr>
        <p:spPr>
          <a:xfrm>
            <a:off x="5604669" y="2016135"/>
            <a:ext cx="58335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b="1" dirty="0">
                <a:latin typeface="Arial" panose="020B0604020202020204" pitchFamily="34" charset="0"/>
              </a:rPr>
              <a:t>Tech </a:t>
            </a:r>
            <a:r>
              <a:rPr lang="pl-PL" altLang="pl-PL" b="1" dirty="0" err="1">
                <a:latin typeface="Arial" panose="020B0604020202020204" pitchFamily="34" charset="0"/>
              </a:rPr>
              <a:t>Stack</a:t>
            </a:r>
            <a:r>
              <a:rPr lang="pl-PL" altLang="pl-PL" b="1" dirty="0">
                <a:latin typeface="Arial" panose="020B0604020202020204" pitchFamily="34" charset="0"/>
              </a:rPr>
              <a:t> </a:t>
            </a:r>
            <a:r>
              <a:rPr lang="pl-PL" altLang="pl-PL" b="1" dirty="0" err="1">
                <a:latin typeface="Arial" panose="020B0604020202020204" pitchFamily="34" charset="0"/>
              </a:rPr>
              <a:t>Evolution</a:t>
            </a:r>
            <a:r>
              <a:rPr lang="pl-PL" altLang="pl-PL" b="1" dirty="0">
                <a:latin typeface="Arial" panose="020B0604020202020204" pitchFamily="34" charset="0"/>
              </a:rPr>
              <a:t>: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There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is</a:t>
            </a:r>
            <a:r>
              <a:rPr lang="pl-PL" altLang="pl-PL" dirty="0">
                <a:latin typeface="Arial" panose="020B0604020202020204" pitchFamily="34" charset="0"/>
              </a:rPr>
              <a:t> a </a:t>
            </a:r>
            <a:r>
              <a:rPr lang="pl-PL" altLang="pl-PL" dirty="0" err="1">
                <a:latin typeface="Arial" panose="020B0604020202020204" pitchFamily="34" charset="0"/>
              </a:rPr>
              <a:t>clear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transition</a:t>
            </a:r>
            <a:r>
              <a:rPr lang="pl-PL" altLang="pl-PL" dirty="0">
                <a:latin typeface="Arial" panose="020B0604020202020204" pitchFamily="34" charset="0"/>
              </a:rPr>
              <a:t> from </a:t>
            </a:r>
            <a:r>
              <a:rPr lang="pl-PL" altLang="pl-PL" dirty="0" err="1">
                <a:latin typeface="Arial" panose="020B0604020202020204" pitchFamily="34" charset="0"/>
              </a:rPr>
              <a:t>monolithic</a:t>
            </a:r>
            <a:r>
              <a:rPr lang="pl-PL" altLang="pl-PL" dirty="0">
                <a:latin typeface="Arial" panose="020B0604020202020204" pitchFamily="34" charset="0"/>
              </a:rPr>
              <a:t> "standard" </a:t>
            </a:r>
            <a:r>
              <a:rPr lang="pl-PL" altLang="pl-PL" dirty="0" err="1">
                <a:latin typeface="Arial" panose="020B0604020202020204" pitchFamily="34" charset="0"/>
              </a:rPr>
              <a:t>stacks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toward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diversified</a:t>
            </a:r>
            <a:r>
              <a:rPr lang="pl-PL" altLang="pl-PL" dirty="0">
                <a:latin typeface="Arial" panose="020B0604020202020204" pitchFamily="34" charset="0"/>
              </a:rPr>
              <a:t>, </a:t>
            </a:r>
            <a:r>
              <a:rPr lang="pl-PL" altLang="pl-PL" dirty="0" err="1">
                <a:latin typeface="Arial" panose="020B0604020202020204" pitchFamily="34" charset="0"/>
              </a:rPr>
              <a:t>specialized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tools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altLang="pl-PL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b="1" dirty="0" err="1">
                <a:latin typeface="Arial" panose="020B0604020202020204" pitchFamily="34" charset="0"/>
              </a:rPr>
              <a:t>Demographic</a:t>
            </a:r>
            <a:r>
              <a:rPr lang="pl-PL" altLang="pl-PL" b="1" dirty="0">
                <a:latin typeface="Arial" panose="020B0604020202020204" pitchFamily="34" charset="0"/>
              </a:rPr>
              <a:t> </a:t>
            </a:r>
            <a:r>
              <a:rPr lang="pl-PL" altLang="pl-PL" b="1" dirty="0" err="1">
                <a:latin typeface="Arial" panose="020B0604020202020204" pitchFamily="34" charset="0"/>
              </a:rPr>
              <a:t>Alignment</a:t>
            </a:r>
            <a:r>
              <a:rPr lang="pl-PL" altLang="pl-PL" b="1" dirty="0">
                <a:latin typeface="Arial" panose="020B0604020202020204" pitchFamily="34" charset="0"/>
              </a:rPr>
              <a:t>:</a:t>
            </a:r>
            <a:r>
              <a:rPr lang="pl-PL" altLang="pl-PL" dirty="0">
                <a:latin typeface="Arial" panose="020B0604020202020204" pitchFamily="34" charset="0"/>
              </a:rPr>
              <a:t> Most </a:t>
            </a:r>
            <a:r>
              <a:rPr lang="pl-PL" altLang="pl-PL" dirty="0" err="1">
                <a:latin typeface="Arial" panose="020B0604020202020204" pitchFamily="34" charset="0"/>
              </a:rPr>
              <a:t>developers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are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early</a:t>
            </a:r>
            <a:r>
              <a:rPr lang="pl-PL" altLang="pl-PL" dirty="0">
                <a:latin typeface="Arial" panose="020B0604020202020204" pitchFamily="34" charset="0"/>
              </a:rPr>
              <a:t>-to-</a:t>
            </a:r>
            <a:r>
              <a:rPr lang="pl-PL" altLang="pl-PL" dirty="0" err="1">
                <a:latin typeface="Arial" panose="020B0604020202020204" pitchFamily="34" charset="0"/>
              </a:rPr>
              <a:t>mid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career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professionals</a:t>
            </a:r>
            <a:r>
              <a:rPr lang="pl-PL" altLang="pl-PL" dirty="0">
                <a:latin typeface="Arial" panose="020B0604020202020204" pitchFamily="34" charset="0"/>
              </a:rPr>
              <a:t>, </a:t>
            </a:r>
            <a:r>
              <a:rPr lang="pl-PL" altLang="pl-PL" dirty="0" err="1">
                <a:latin typeface="Arial" panose="020B0604020202020204" pitchFamily="34" charset="0"/>
              </a:rPr>
              <a:t>indicating</a:t>
            </a:r>
            <a:r>
              <a:rPr lang="pl-PL" altLang="pl-PL" dirty="0">
                <a:latin typeface="Arial" panose="020B0604020202020204" pitchFamily="34" charset="0"/>
              </a:rPr>
              <a:t> a high </a:t>
            </a:r>
            <a:r>
              <a:rPr lang="pl-PL" altLang="pl-PL" dirty="0" err="1">
                <a:latin typeface="Arial" panose="020B0604020202020204" pitchFamily="34" charset="0"/>
              </a:rPr>
              <a:t>potential</a:t>
            </a:r>
            <a:r>
              <a:rPr lang="pl-PL" altLang="pl-PL" dirty="0">
                <a:latin typeface="Arial" panose="020B0604020202020204" pitchFamily="34" charset="0"/>
              </a:rPr>
              <a:t> for </a:t>
            </a:r>
            <a:r>
              <a:rPr lang="pl-PL" altLang="pl-PL" dirty="0" err="1">
                <a:latin typeface="Arial" panose="020B0604020202020204" pitchFamily="34" charset="0"/>
              </a:rPr>
              <a:t>rapid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adoption</a:t>
            </a:r>
            <a:r>
              <a:rPr lang="pl-PL" altLang="pl-PL" dirty="0">
                <a:latin typeface="Arial" panose="020B0604020202020204" pitchFamily="34" charset="0"/>
              </a:rPr>
              <a:t> of </a:t>
            </a:r>
            <a:r>
              <a:rPr lang="pl-PL" altLang="pl-PL" dirty="0" err="1">
                <a:latin typeface="Arial" panose="020B0604020202020204" pitchFamily="34" charset="0"/>
              </a:rPr>
              <a:t>new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tools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altLang="pl-PL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b="1" dirty="0" err="1">
                <a:latin typeface="Arial" panose="020B0604020202020204" pitchFamily="34" charset="0"/>
              </a:rPr>
              <a:t>Geographic</a:t>
            </a:r>
            <a:r>
              <a:rPr lang="pl-PL" altLang="pl-PL" b="1" dirty="0">
                <a:latin typeface="Arial" panose="020B0604020202020204" pitchFamily="34" charset="0"/>
              </a:rPr>
              <a:t> </a:t>
            </a:r>
            <a:r>
              <a:rPr lang="pl-PL" altLang="pl-PL" b="1" dirty="0" err="1">
                <a:latin typeface="Arial" panose="020B0604020202020204" pitchFamily="34" charset="0"/>
              </a:rPr>
              <a:t>Concentration</a:t>
            </a:r>
            <a:r>
              <a:rPr lang="pl-PL" altLang="pl-PL" b="1" dirty="0">
                <a:latin typeface="Arial" panose="020B0604020202020204" pitchFamily="34" charset="0"/>
              </a:rPr>
              <a:t>:</a:t>
            </a:r>
            <a:r>
              <a:rPr lang="pl-PL" altLang="pl-PL" dirty="0">
                <a:latin typeface="Arial" panose="020B0604020202020204" pitchFamily="34" charset="0"/>
              </a:rPr>
              <a:t> Major </a:t>
            </a:r>
            <a:r>
              <a:rPr lang="pl-PL" altLang="pl-PL" dirty="0" err="1">
                <a:latin typeface="Arial" panose="020B0604020202020204" pitchFamily="34" charset="0"/>
              </a:rPr>
              <a:t>hubs</a:t>
            </a:r>
            <a:r>
              <a:rPr lang="pl-PL" altLang="pl-PL" dirty="0">
                <a:latin typeface="Arial" panose="020B0604020202020204" pitchFamily="34" charset="0"/>
              </a:rPr>
              <a:t> in </a:t>
            </a:r>
            <a:r>
              <a:rPr lang="pl-PL" altLang="pl-PL" dirty="0" err="1">
                <a:latin typeface="Arial" panose="020B0604020202020204" pitchFamily="34" charset="0"/>
              </a:rPr>
              <a:t>North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America</a:t>
            </a:r>
            <a:r>
              <a:rPr lang="pl-PL" altLang="pl-PL" dirty="0">
                <a:latin typeface="Arial" panose="020B0604020202020204" pitchFamily="34" charset="0"/>
              </a:rPr>
              <a:t>, Europe, and </a:t>
            </a:r>
            <a:r>
              <a:rPr lang="pl-PL" altLang="pl-PL" dirty="0" err="1">
                <a:latin typeface="Arial" panose="020B0604020202020204" pitchFamily="34" charset="0"/>
              </a:rPr>
              <a:t>India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continue</a:t>
            </a:r>
            <a:r>
              <a:rPr lang="pl-PL" altLang="pl-PL" dirty="0">
                <a:latin typeface="Arial" panose="020B0604020202020204" pitchFamily="34" charset="0"/>
              </a:rPr>
              <a:t> to </a:t>
            </a:r>
            <a:r>
              <a:rPr lang="pl-PL" altLang="pl-PL" dirty="0" err="1">
                <a:latin typeface="Arial" panose="020B0604020202020204" pitchFamily="34" charset="0"/>
              </a:rPr>
              <a:t>drive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global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technology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standards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BAE3B3B-A589-9815-8F5A-585F460F1F8B}"/>
              </a:ext>
            </a:extLst>
          </p:cNvPr>
          <p:cNvSpPr txBox="1"/>
          <p:nvPr/>
        </p:nvSpPr>
        <p:spPr>
          <a:xfrm>
            <a:off x="1506448" y="1816418"/>
            <a:ext cx="91791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b="1" dirty="0" err="1">
                <a:latin typeface="Arial" panose="020B0604020202020204" pitchFamily="34" charset="0"/>
              </a:rPr>
              <a:t>Skill</a:t>
            </a:r>
            <a:r>
              <a:rPr lang="pl-PL" altLang="pl-PL" b="1" dirty="0">
                <a:latin typeface="Arial" panose="020B0604020202020204" pitchFamily="34" charset="0"/>
              </a:rPr>
              <a:t> Gap:</a:t>
            </a:r>
            <a:r>
              <a:rPr lang="pl-PL" altLang="pl-PL" dirty="0">
                <a:latin typeface="Arial" panose="020B0604020202020204" pitchFamily="34" charset="0"/>
              </a:rPr>
              <a:t> The gap </a:t>
            </a:r>
            <a:r>
              <a:rPr lang="pl-PL" altLang="pl-PL" dirty="0" err="1">
                <a:latin typeface="Arial" panose="020B0604020202020204" pitchFamily="34" charset="0"/>
              </a:rPr>
              <a:t>between</a:t>
            </a:r>
            <a:r>
              <a:rPr lang="pl-PL" altLang="pl-PL" dirty="0">
                <a:latin typeface="Arial" panose="020B0604020202020204" pitchFamily="34" charset="0"/>
              </a:rPr>
              <a:t> "</a:t>
            </a:r>
            <a:r>
              <a:rPr lang="pl-PL" altLang="pl-PL" dirty="0" err="1">
                <a:latin typeface="Arial" panose="020B0604020202020204" pitchFamily="34" charset="0"/>
              </a:rPr>
              <a:t>Worked</a:t>
            </a:r>
            <a:r>
              <a:rPr lang="pl-PL" altLang="pl-PL" dirty="0">
                <a:latin typeface="Arial" panose="020B0604020202020204" pitchFamily="34" charset="0"/>
              </a:rPr>
              <a:t> With" and "Want to </a:t>
            </a:r>
            <a:r>
              <a:rPr lang="pl-PL" altLang="pl-PL" dirty="0" err="1">
                <a:latin typeface="Arial" panose="020B0604020202020204" pitchFamily="34" charset="0"/>
              </a:rPr>
              <a:t>Work</a:t>
            </a:r>
            <a:r>
              <a:rPr lang="pl-PL" altLang="pl-PL" dirty="0">
                <a:latin typeface="Arial" panose="020B0604020202020204" pitchFamily="34" charset="0"/>
              </a:rPr>
              <a:t> With" </a:t>
            </a:r>
            <a:r>
              <a:rPr lang="pl-PL" altLang="pl-PL" dirty="0" err="1">
                <a:latin typeface="Arial" panose="020B0604020202020204" pitchFamily="34" charset="0"/>
              </a:rPr>
              <a:t>suggests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an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upcoming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shift</a:t>
            </a:r>
            <a:r>
              <a:rPr lang="pl-PL" altLang="pl-PL" dirty="0">
                <a:latin typeface="Arial" panose="020B0604020202020204" pitchFamily="34" charset="0"/>
              </a:rPr>
              <a:t> in the talent market </a:t>
            </a:r>
            <a:r>
              <a:rPr lang="pl-PL" altLang="pl-PL" dirty="0" err="1">
                <a:latin typeface="Arial" panose="020B0604020202020204" pitchFamily="34" charset="0"/>
              </a:rPr>
              <a:t>toward</a:t>
            </a:r>
            <a:r>
              <a:rPr lang="pl-PL" altLang="pl-PL" dirty="0">
                <a:latin typeface="Arial" panose="020B0604020202020204" pitchFamily="34" charset="0"/>
              </a:rPr>
              <a:t> AI and </a:t>
            </a:r>
            <a:r>
              <a:rPr lang="pl-PL" altLang="pl-PL" dirty="0" err="1">
                <a:latin typeface="Arial" panose="020B0604020202020204" pitchFamily="34" charset="0"/>
              </a:rPr>
              <a:t>Cloud</a:t>
            </a:r>
            <a:r>
              <a:rPr lang="pl-PL" altLang="pl-PL" dirty="0">
                <a:latin typeface="Arial" panose="020B0604020202020204" pitchFamily="34" charset="0"/>
              </a:rPr>
              <a:t>-native </a:t>
            </a:r>
            <a:r>
              <a:rPr lang="pl-PL" altLang="pl-PL" dirty="0" err="1">
                <a:latin typeface="Arial" panose="020B0604020202020204" pitchFamily="34" charset="0"/>
              </a:rPr>
              <a:t>technologies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l-PL" altLang="pl-PL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b="1" dirty="0">
                <a:latin typeface="Arial" panose="020B0604020202020204" pitchFamily="34" charset="0"/>
              </a:rPr>
              <a:t>Strategic </a:t>
            </a:r>
            <a:r>
              <a:rPr lang="pl-PL" altLang="pl-PL" b="1" dirty="0" err="1">
                <a:latin typeface="Arial" panose="020B0604020202020204" pitchFamily="34" charset="0"/>
              </a:rPr>
              <a:t>Growth</a:t>
            </a:r>
            <a:r>
              <a:rPr lang="pl-PL" altLang="pl-PL" b="1" dirty="0">
                <a:latin typeface="Arial" panose="020B0604020202020204" pitchFamily="34" charset="0"/>
              </a:rPr>
              <a:t>: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Companies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leveraging</a:t>
            </a:r>
            <a:r>
              <a:rPr lang="pl-PL" altLang="pl-PL" dirty="0">
                <a:latin typeface="Arial" panose="020B0604020202020204" pitchFamily="34" charset="0"/>
              </a:rPr>
              <a:t> the most "</a:t>
            </a:r>
            <a:r>
              <a:rPr lang="pl-PL" altLang="pl-PL" dirty="0" err="1">
                <a:latin typeface="Arial" panose="020B0604020202020204" pitchFamily="34" charset="0"/>
              </a:rPr>
              <a:t>desired</a:t>
            </a:r>
            <a:r>
              <a:rPr lang="pl-PL" altLang="pl-PL" dirty="0">
                <a:latin typeface="Arial" panose="020B0604020202020204" pitchFamily="34" charset="0"/>
              </a:rPr>
              <a:t>" </a:t>
            </a:r>
            <a:r>
              <a:rPr lang="pl-PL" altLang="pl-PL" dirty="0" err="1">
                <a:latin typeface="Arial" panose="020B0604020202020204" pitchFamily="34" charset="0"/>
              </a:rPr>
              <a:t>technologies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will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likely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have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higher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employee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retention</a:t>
            </a:r>
            <a:r>
              <a:rPr lang="pl-PL" altLang="pl-PL" dirty="0">
                <a:latin typeface="Arial" panose="020B0604020202020204" pitchFamily="34" charset="0"/>
              </a:rPr>
              <a:t> and </a:t>
            </a:r>
            <a:r>
              <a:rPr lang="pl-PL" altLang="pl-PL" dirty="0" err="1">
                <a:latin typeface="Arial" panose="020B0604020202020204" pitchFamily="34" charset="0"/>
              </a:rPr>
              <a:t>recruitment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success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470" y="36418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93631E33-A85A-BFFD-18AB-44CA134B1867}"/>
              </a:ext>
            </a:extLst>
          </p:cNvPr>
          <p:cNvSpPr txBox="1"/>
          <p:nvPr/>
        </p:nvSpPr>
        <p:spPr>
          <a:xfrm>
            <a:off x="4827752" y="2382681"/>
            <a:ext cx="53835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dirty="0">
                <a:latin typeface="Arial" panose="020B0604020202020204" pitchFamily="34" charset="0"/>
              </a:rPr>
              <a:t>JavaScript and SQL </a:t>
            </a:r>
            <a:r>
              <a:rPr lang="pl-PL" altLang="pl-PL" dirty="0" err="1">
                <a:latin typeface="Arial" panose="020B0604020202020204" pitchFamily="34" charset="0"/>
              </a:rPr>
              <a:t>remain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foundational</a:t>
            </a:r>
            <a:r>
              <a:rPr lang="pl-PL" altLang="pl-PL" dirty="0">
                <a:latin typeface="Arial" panose="020B0604020202020204" pitchFamily="34" charset="0"/>
              </a:rPr>
              <a:t> to the </a:t>
            </a:r>
            <a:r>
              <a:rPr lang="pl-PL" altLang="pl-PL" dirty="0" err="1">
                <a:latin typeface="Arial" panose="020B0604020202020204" pitchFamily="34" charset="0"/>
              </a:rPr>
              <a:t>current</a:t>
            </a:r>
            <a:r>
              <a:rPr lang="pl-PL" altLang="pl-PL" dirty="0">
                <a:latin typeface="Arial" panose="020B0604020202020204" pitchFamily="34" charset="0"/>
              </a:rPr>
              <a:t> IT </a:t>
            </a:r>
            <a:r>
              <a:rPr lang="pl-PL" altLang="pl-PL" dirty="0" err="1">
                <a:latin typeface="Arial" panose="020B0604020202020204" pitchFamily="34" charset="0"/>
              </a:rPr>
              <a:t>landscape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l-PL" altLang="pl-PL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dirty="0" err="1">
                <a:latin typeface="Arial" panose="020B0604020202020204" pitchFamily="34" charset="0"/>
              </a:rPr>
              <a:t>Python</a:t>
            </a:r>
            <a:r>
              <a:rPr lang="pl-PL" altLang="pl-PL" dirty="0">
                <a:latin typeface="Arial" panose="020B0604020202020204" pitchFamily="34" charset="0"/>
              </a:rPr>
              <a:t> and </a:t>
            </a:r>
            <a:r>
              <a:rPr lang="pl-PL" altLang="pl-PL" dirty="0" err="1">
                <a:latin typeface="Arial" panose="020B0604020202020204" pitchFamily="34" charset="0"/>
              </a:rPr>
              <a:t>NoSQL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are</a:t>
            </a:r>
            <a:r>
              <a:rPr lang="pl-PL" altLang="pl-PL" dirty="0">
                <a:latin typeface="Arial" panose="020B0604020202020204" pitchFamily="34" charset="0"/>
              </a:rPr>
              <a:t> the </a:t>
            </a:r>
            <a:r>
              <a:rPr lang="pl-PL" altLang="pl-PL" dirty="0" err="1">
                <a:latin typeface="Arial" panose="020B0604020202020204" pitchFamily="34" charset="0"/>
              </a:rPr>
              <a:t>primary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drivers</a:t>
            </a:r>
            <a:r>
              <a:rPr lang="pl-PL" altLang="pl-PL" dirty="0">
                <a:latin typeface="Arial" panose="020B0604020202020204" pitchFamily="34" charset="0"/>
              </a:rPr>
              <a:t> of </a:t>
            </a:r>
            <a:r>
              <a:rPr lang="pl-PL" altLang="pl-PL" dirty="0" err="1">
                <a:latin typeface="Arial" panose="020B0604020202020204" pitchFamily="34" charset="0"/>
              </a:rPr>
              <a:t>future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technological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interest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l-PL" altLang="pl-PL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dirty="0" err="1">
                <a:latin typeface="Arial" panose="020B0604020202020204" pitchFamily="34" charset="0"/>
              </a:rPr>
              <a:t>Effective</a:t>
            </a:r>
            <a:r>
              <a:rPr lang="pl-PL" altLang="pl-PL" dirty="0">
                <a:latin typeface="Arial" panose="020B0604020202020204" pitchFamily="34" charset="0"/>
              </a:rPr>
              <a:t> data </a:t>
            </a:r>
            <a:r>
              <a:rPr lang="pl-PL" altLang="pl-PL" dirty="0" err="1">
                <a:latin typeface="Arial" panose="020B0604020202020204" pitchFamily="34" charset="0"/>
              </a:rPr>
              <a:t>normalization</a:t>
            </a:r>
            <a:r>
              <a:rPr lang="pl-PL" altLang="pl-PL" dirty="0">
                <a:latin typeface="Arial" panose="020B0604020202020204" pitchFamily="34" charset="0"/>
              </a:rPr>
              <a:t> and </a:t>
            </a:r>
            <a:r>
              <a:rPr lang="pl-PL" altLang="pl-PL" dirty="0" err="1">
                <a:latin typeface="Arial" panose="020B0604020202020204" pitchFamily="34" charset="0"/>
              </a:rPr>
              <a:t>visualization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are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essential</a:t>
            </a:r>
            <a:r>
              <a:rPr lang="pl-PL" altLang="pl-PL" dirty="0">
                <a:latin typeface="Arial" panose="020B0604020202020204" pitchFamily="34" charset="0"/>
              </a:rPr>
              <a:t> for </a:t>
            </a:r>
            <a:r>
              <a:rPr lang="pl-PL" altLang="pl-PL" dirty="0" err="1">
                <a:latin typeface="Arial" panose="020B0604020202020204" pitchFamily="34" charset="0"/>
              </a:rPr>
              <a:t>translating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raw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survey</a:t>
            </a:r>
            <a:r>
              <a:rPr lang="pl-PL" altLang="pl-PL" dirty="0">
                <a:latin typeface="Arial" panose="020B0604020202020204" pitchFamily="34" charset="0"/>
              </a:rPr>
              <a:t> data </a:t>
            </a:r>
            <a:r>
              <a:rPr lang="pl-PL" altLang="pl-PL" dirty="0" err="1">
                <a:latin typeface="Arial" panose="020B0604020202020204" pitchFamily="34" charset="0"/>
              </a:rPr>
              <a:t>into</a:t>
            </a:r>
            <a:r>
              <a:rPr lang="pl-PL" altLang="pl-PL" dirty="0">
                <a:latin typeface="Arial" panose="020B0604020202020204" pitchFamily="34" charset="0"/>
              </a:rPr>
              <a:t> </a:t>
            </a:r>
            <a:r>
              <a:rPr lang="pl-PL" altLang="pl-PL" dirty="0" err="1">
                <a:latin typeface="Arial" panose="020B0604020202020204" pitchFamily="34" charset="0"/>
              </a:rPr>
              <a:t>actionable</a:t>
            </a:r>
            <a:r>
              <a:rPr lang="pl-PL" altLang="pl-PL" dirty="0">
                <a:latin typeface="Arial" panose="020B0604020202020204" pitchFamily="34" charset="0"/>
              </a:rPr>
              <a:t> business </a:t>
            </a:r>
            <a:r>
              <a:rPr lang="pl-PL" altLang="pl-PL" dirty="0" err="1">
                <a:latin typeface="Arial" panose="020B0604020202020204" pitchFamily="34" charset="0"/>
              </a:rPr>
              <a:t>intelligence</a:t>
            </a:r>
            <a:r>
              <a:rPr lang="pl-PL" altLang="pl-PL" dirty="0">
                <a:latin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000" b="1" dirty="0"/>
              <a:t>Focus:</a:t>
            </a:r>
            <a:r>
              <a:rPr lang="pl-PL" sz="2000" dirty="0"/>
              <a:t> </a:t>
            </a:r>
            <a:r>
              <a:rPr lang="pl-PL" sz="2000" dirty="0" err="1"/>
              <a:t>Explaining</a:t>
            </a:r>
            <a:r>
              <a:rPr lang="pl-PL" sz="2000" dirty="0"/>
              <a:t> the </a:t>
            </a:r>
            <a:r>
              <a:rPr lang="pl-PL" sz="2000" dirty="0" err="1"/>
              <a:t>technical</a:t>
            </a:r>
            <a:r>
              <a:rPr lang="pl-PL" sz="2000" dirty="0"/>
              <a:t> "heavy lifting" </a:t>
            </a:r>
            <a:r>
              <a:rPr lang="pl-PL" sz="2000" dirty="0" err="1"/>
              <a:t>done</a:t>
            </a:r>
            <a:r>
              <a:rPr lang="pl-PL" sz="2000" dirty="0"/>
              <a:t> in </a:t>
            </a:r>
            <a:r>
              <a:rPr lang="pl-PL" sz="2000" dirty="0" err="1"/>
              <a:t>Python</a:t>
            </a:r>
            <a:r>
              <a:rPr lang="pl-PL" sz="2000" dirty="0"/>
              <a:t>.</a:t>
            </a:r>
          </a:p>
          <a:p>
            <a:r>
              <a:rPr lang="pl-PL" sz="2000" b="1" dirty="0"/>
              <a:t>The Challenge:</a:t>
            </a:r>
            <a:r>
              <a:rPr lang="pl-PL" sz="2000" dirty="0"/>
              <a:t> The </a:t>
            </a:r>
            <a:r>
              <a:rPr lang="pl-PL" sz="2000" dirty="0" err="1"/>
              <a:t>raw</a:t>
            </a:r>
            <a:r>
              <a:rPr lang="pl-PL" sz="2000" dirty="0"/>
              <a:t> </a:t>
            </a:r>
            <a:r>
              <a:rPr lang="pl-PL" sz="2000" dirty="0" err="1"/>
              <a:t>Stack</a:t>
            </a:r>
            <a:r>
              <a:rPr lang="pl-PL" sz="2000" dirty="0"/>
              <a:t> </a:t>
            </a:r>
            <a:r>
              <a:rPr lang="pl-PL" sz="2000" dirty="0" err="1"/>
              <a:t>Overflow</a:t>
            </a:r>
            <a:r>
              <a:rPr lang="pl-PL" sz="2000" dirty="0"/>
              <a:t> </a:t>
            </a:r>
            <a:r>
              <a:rPr lang="pl-PL" sz="2000" dirty="0" err="1"/>
              <a:t>dataset</a:t>
            </a:r>
            <a:r>
              <a:rPr lang="pl-PL" sz="2000" dirty="0"/>
              <a:t> stores </a:t>
            </a:r>
            <a:r>
              <a:rPr lang="pl-PL" sz="2000" dirty="0" err="1"/>
              <a:t>multi-select</a:t>
            </a:r>
            <a:r>
              <a:rPr lang="pl-PL" sz="2000" dirty="0"/>
              <a:t> </a:t>
            </a:r>
            <a:r>
              <a:rPr lang="pl-PL" sz="2000" dirty="0" err="1"/>
              <a:t>responses</a:t>
            </a:r>
            <a:r>
              <a:rPr lang="pl-PL" sz="2000" dirty="0"/>
              <a:t> (</a:t>
            </a:r>
            <a:r>
              <a:rPr lang="pl-PL" sz="2000" dirty="0" err="1"/>
              <a:t>e.g</a:t>
            </a:r>
            <a:r>
              <a:rPr lang="pl-PL" sz="2000" dirty="0"/>
              <a:t>., "</a:t>
            </a:r>
            <a:r>
              <a:rPr lang="pl-PL" sz="2000" dirty="0" err="1"/>
              <a:t>Python;SQL;Java</a:t>
            </a:r>
            <a:r>
              <a:rPr lang="pl-PL" sz="2000" dirty="0"/>
              <a:t>") as a single </a:t>
            </a:r>
            <a:r>
              <a:rPr lang="pl-PL" sz="2000" dirty="0" err="1"/>
              <a:t>semi</a:t>
            </a:r>
            <a:r>
              <a:rPr lang="pl-PL" sz="2000" dirty="0"/>
              <a:t>-colon-</a:t>
            </a:r>
            <a:r>
              <a:rPr lang="pl-PL" sz="2000" dirty="0" err="1"/>
              <a:t>separated</a:t>
            </a:r>
            <a:r>
              <a:rPr lang="pl-PL" sz="2000" dirty="0"/>
              <a:t> string. Standard BI </a:t>
            </a:r>
            <a:r>
              <a:rPr lang="pl-PL" sz="2000" dirty="0" err="1"/>
              <a:t>tools</a:t>
            </a:r>
            <a:r>
              <a:rPr lang="pl-PL" sz="2000" dirty="0"/>
              <a:t> </a:t>
            </a:r>
            <a:r>
              <a:rPr lang="pl-PL" sz="2000" dirty="0" err="1"/>
              <a:t>cannot</a:t>
            </a:r>
            <a:r>
              <a:rPr lang="pl-PL" sz="2000" dirty="0"/>
              <a:t> </a:t>
            </a:r>
            <a:r>
              <a:rPr lang="pl-PL" sz="2000" dirty="0" err="1"/>
              <a:t>count</a:t>
            </a:r>
            <a:r>
              <a:rPr lang="pl-PL" sz="2000" dirty="0"/>
              <a:t> </a:t>
            </a:r>
            <a:r>
              <a:rPr lang="pl-PL" sz="2000" dirty="0" err="1"/>
              <a:t>these</a:t>
            </a:r>
            <a:r>
              <a:rPr lang="pl-PL" sz="2000" dirty="0"/>
              <a:t> </a:t>
            </a:r>
            <a:r>
              <a:rPr lang="pl-PL" sz="2000" dirty="0" err="1"/>
              <a:t>individual</a:t>
            </a:r>
            <a:r>
              <a:rPr lang="pl-PL" sz="2000" dirty="0"/>
              <a:t> </a:t>
            </a:r>
            <a:r>
              <a:rPr lang="pl-PL" sz="2000" dirty="0" err="1"/>
              <a:t>instances</a:t>
            </a:r>
            <a:r>
              <a:rPr lang="pl-PL" sz="2000" dirty="0"/>
              <a:t> </a:t>
            </a:r>
            <a:r>
              <a:rPr lang="pl-PL" sz="2000" dirty="0" err="1"/>
              <a:t>accurately</a:t>
            </a:r>
            <a:r>
              <a:rPr lang="pl-PL" sz="2000" dirty="0"/>
              <a:t>.</a:t>
            </a:r>
          </a:p>
          <a:p>
            <a:r>
              <a:rPr lang="pl-PL" sz="2000" b="1" dirty="0"/>
              <a:t>The Solution:</a:t>
            </a:r>
            <a:r>
              <a:rPr lang="pl-PL" sz="2000" dirty="0"/>
              <a:t> </a:t>
            </a:r>
            <a:r>
              <a:rPr lang="pl-PL" sz="2000" dirty="0" err="1"/>
              <a:t>Utilized</a:t>
            </a:r>
            <a:r>
              <a:rPr lang="pl-PL" sz="2000" dirty="0"/>
              <a:t> the </a:t>
            </a:r>
            <a:r>
              <a:rPr lang="pl-PL" sz="2000" dirty="0" err="1"/>
              <a:t>Python</a:t>
            </a:r>
            <a:r>
              <a:rPr lang="pl-PL" sz="2000" dirty="0"/>
              <a:t> </a:t>
            </a:r>
            <a:r>
              <a:rPr lang="pl-PL" sz="2000" b="1" dirty="0" err="1"/>
              <a:t>Pandas</a:t>
            </a:r>
            <a:r>
              <a:rPr lang="pl-PL" sz="2000" b="1" dirty="0"/>
              <a:t> </a:t>
            </a:r>
            <a:r>
              <a:rPr lang="pl-PL" sz="2000" b="1" dirty="0" err="1"/>
              <a:t>library</a:t>
            </a:r>
            <a:r>
              <a:rPr lang="pl-PL" sz="2000" dirty="0"/>
              <a:t> and the $</a:t>
            </a:r>
            <a:r>
              <a:rPr lang="pl-PL" sz="2000" dirty="0" err="1"/>
              <a:t>explode</a:t>
            </a:r>
            <a:r>
              <a:rPr lang="pl-PL" sz="2000" dirty="0"/>
              <a:t>()$ </a:t>
            </a:r>
            <a:r>
              <a:rPr lang="pl-PL" sz="2000" dirty="0" err="1"/>
              <a:t>function</a:t>
            </a:r>
            <a:r>
              <a:rPr lang="pl-PL" sz="2000" dirty="0"/>
              <a:t>. </a:t>
            </a:r>
            <a:r>
              <a:rPr lang="pl-PL" sz="2000" dirty="0" err="1"/>
              <a:t>This</a:t>
            </a:r>
            <a:r>
              <a:rPr lang="pl-PL" sz="2000" dirty="0"/>
              <a:t> </a:t>
            </a:r>
            <a:r>
              <a:rPr lang="pl-PL" sz="2000" dirty="0" err="1"/>
              <a:t>process</a:t>
            </a:r>
            <a:r>
              <a:rPr lang="pl-PL" sz="2000" dirty="0"/>
              <a:t> </a:t>
            </a:r>
            <a:r>
              <a:rPr lang="pl-PL" sz="2000" dirty="0" err="1"/>
              <a:t>split</a:t>
            </a:r>
            <a:r>
              <a:rPr lang="pl-PL" sz="2000" dirty="0"/>
              <a:t> </a:t>
            </a:r>
            <a:r>
              <a:rPr lang="pl-PL" sz="2000" dirty="0" err="1"/>
              <a:t>strings</a:t>
            </a:r>
            <a:r>
              <a:rPr lang="pl-PL" sz="2000" dirty="0"/>
              <a:t> </a:t>
            </a:r>
            <a:r>
              <a:rPr lang="pl-PL" sz="2000" dirty="0" err="1"/>
              <a:t>into</a:t>
            </a:r>
            <a:r>
              <a:rPr lang="pl-PL" sz="2000" dirty="0"/>
              <a:t> </a:t>
            </a:r>
            <a:r>
              <a:rPr lang="pl-PL" sz="2000" dirty="0" err="1"/>
              <a:t>individual</a:t>
            </a:r>
            <a:r>
              <a:rPr lang="pl-PL" sz="2000" dirty="0"/>
              <a:t> </a:t>
            </a:r>
            <a:r>
              <a:rPr lang="pl-PL" sz="2000" dirty="0" err="1"/>
              <a:t>rows</a:t>
            </a:r>
            <a:r>
              <a:rPr lang="pl-PL" sz="2000" dirty="0"/>
              <a:t>, </a:t>
            </a:r>
            <a:r>
              <a:rPr lang="pl-PL" sz="2000" dirty="0" err="1"/>
              <a:t>creating</a:t>
            </a:r>
            <a:r>
              <a:rPr lang="pl-PL" sz="2000" dirty="0"/>
              <a:t> a "</a:t>
            </a:r>
            <a:r>
              <a:rPr lang="pl-PL" sz="2000" dirty="0" err="1"/>
              <a:t>long</a:t>
            </a:r>
            <a:r>
              <a:rPr lang="pl-PL" sz="2000" dirty="0"/>
              <a:t>-format" </a:t>
            </a:r>
            <a:r>
              <a:rPr lang="pl-PL" sz="2000" dirty="0" err="1"/>
              <a:t>dataset</a:t>
            </a:r>
            <a:r>
              <a:rPr lang="pl-PL" sz="2000" dirty="0"/>
              <a:t>.</a:t>
            </a:r>
          </a:p>
          <a:p>
            <a:r>
              <a:rPr lang="pl-PL" sz="2000" b="1" dirty="0"/>
              <a:t>The </a:t>
            </a:r>
            <a:r>
              <a:rPr lang="pl-PL" sz="2000" b="1" dirty="0" err="1"/>
              <a:t>Impact</a:t>
            </a:r>
            <a:r>
              <a:rPr lang="pl-PL" sz="2000" b="1" dirty="0"/>
              <a:t>:</a:t>
            </a:r>
            <a:r>
              <a:rPr lang="pl-PL" sz="2000" dirty="0"/>
              <a:t> </a:t>
            </a:r>
            <a:r>
              <a:rPr lang="pl-PL" sz="2000" dirty="0" err="1"/>
              <a:t>This</a:t>
            </a:r>
            <a:r>
              <a:rPr lang="pl-PL" sz="2000" dirty="0"/>
              <a:t> </a:t>
            </a:r>
            <a:r>
              <a:rPr lang="pl-PL" sz="2000" dirty="0" err="1"/>
              <a:t>normalization</a:t>
            </a:r>
            <a:r>
              <a:rPr lang="pl-PL" sz="2000" dirty="0"/>
              <a:t> </a:t>
            </a:r>
            <a:r>
              <a:rPr lang="pl-PL" sz="2000" dirty="0" err="1"/>
              <a:t>ensures</a:t>
            </a:r>
            <a:r>
              <a:rPr lang="pl-PL" sz="2000" dirty="0"/>
              <a:t> 100% </a:t>
            </a:r>
            <a:r>
              <a:rPr lang="pl-PL" sz="2000" dirty="0" err="1"/>
              <a:t>accuracy</a:t>
            </a:r>
            <a:r>
              <a:rPr lang="pl-PL" sz="2000" dirty="0"/>
              <a:t> in the "Top 10" </a:t>
            </a:r>
            <a:r>
              <a:rPr lang="pl-PL" sz="2000" dirty="0" err="1"/>
              <a:t>charts</a:t>
            </a:r>
            <a:r>
              <a:rPr lang="pl-PL" sz="2000" dirty="0"/>
              <a:t>. </a:t>
            </a:r>
            <a:r>
              <a:rPr lang="pl-PL" sz="2000" dirty="0" err="1"/>
              <a:t>Without</a:t>
            </a:r>
            <a:r>
              <a:rPr lang="pl-PL" sz="2000" dirty="0"/>
              <a:t> </a:t>
            </a:r>
            <a:r>
              <a:rPr lang="pl-PL" sz="2000" dirty="0" err="1"/>
              <a:t>this</a:t>
            </a:r>
            <a:r>
              <a:rPr lang="pl-PL" sz="2000" dirty="0"/>
              <a:t> step, </a:t>
            </a:r>
            <a:r>
              <a:rPr lang="pl-PL" sz="2000" dirty="0" err="1"/>
              <a:t>unique</a:t>
            </a:r>
            <a:r>
              <a:rPr lang="pl-PL" sz="2000" dirty="0"/>
              <a:t> </a:t>
            </a:r>
            <a:r>
              <a:rPr lang="pl-PL" sz="2000" dirty="0" err="1"/>
              <a:t>technologies</a:t>
            </a:r>
            <a:r>
              <a:rPr lang="pl-PL" sz="2000" dirty="0"/>
              <a:t> </a:t>
            </a:r>
            <a:r>
              <a:rPr lang="pl-PL" sz="2000" dirty="0" err="1"/>
              <a:t>would</a:t>
            </a:r>
            <a:r>
              <a:rPr lang="pl-PL" sz="2000" dirty="0"/>
              <a:t> be </a:t>
            </a:r>
            <a:r>
              <a:rPr lang="pl-PL" sz="2000" dirty="0" err="1"/>
              <a:t>hidden</a:t>
            </a:r>
            <a:r>
              <a:rPr lang="pl-PL" sz="2000" dirty="0"/>
              <a:t> </a:t>
            </a:r>
            <a:r>
              <a:rPr lang="pl-PL" sz="2000" dirty="0" err="1"/>
              <a:t>within</a:t>
            </a:r>
            <a:r>
              <a:rPr lang="pl-PL" sz="2000" dirty="0"/>
              <a:t> </a:t>
            </a:r>
            <a:r>
              <a:rPr lang="pl-PL" sz="2000" dirty="0" err="1"/>
              <a:t>combined</a:t>
            </a:r>
            <a:r>
              <a:rPr lang="pl-PL" sz="2000" dirty="0"/>
              <a:t> </a:t>
            </a:r>
            <a:r>
              <a:rPr lang="pl-PL" sz="2000" dirty="0" err="1"/>
              <a:t>strings</a:t>
            </a:r>
            <a:r>
              <a:rPr lang="pl-PL" sz="2000" dirty="0"/>
              <a:t>, </a:t>
            </a:r>
            <a:r>
              <a:rPr lang="pl-PL" sz="2000" dirty="0" err="1"/>
              <a:t>leading</a:t>
            </a:r>
            <a:r>
              <a:rPr lang="pl-PL" sz="2000" dirty="0"/>
              <a:t> to </a:t>
            </a:r>
            <a:r>
              <a:rPr lang="pl-PL" sz="2000" dirty="0" err="1"/>
              <a:t>significant</a:t>
            </a:r>
            <a:r>
              <a:rPr lang="pl-PL" sz="2000" dirty="0"/>
              <a:t> </a:t>
            </a:r>
            <a:r>
              <a:rPr lang="pl-PL" sz="2000" dirty="0" err="1"/>
              <a:t>undercounting</a:t>
            </a:r>
            <a:r>
              <a:rPr lang="pl-PL" sz="2000" dirty="0"/>
              <a:t>.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68A0C-C5FC-533B-3737-EE80CDEC0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FE1922A-5BCA-D166-2F1D-A3EA982E0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CC5A2EC-39A3-9512-8A23-BDB76954701F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000" b="1" dirty="0"/>
              <a:t>Focus:</a:t>
            </a:r>
            <a:r>
              <a:rPr lang="pl-PL" sz="2000" dirty="0"/>
              <a:t> </a:t>
            </a:r>
            <a:r>
              <a:rPr lang="pl-PL" sz="2000" dirty="0" err="1"/>
              <a:t>Demonstrating</a:t>
            </a:r>
            <a:r>
              <a:rPr lang="pl-PL" sz="2000" dirty="0"/>
              <a:t> </a:t>
            </a:r>
            <a:r>
              <a:rPr lang="pl-PL" sz="2000" dirty="0" err="1"/>
              <a:t>attention</a:t>
            </a:r>
            <a:r>
              <a:rPr lang="pl-PL" sz="2000" dirty="0"/>
              <a:t> to data </a:t>
            </a:r>
            <a:r>
              <a:rPr lang="pl-PL" sz="2000" dirty="0" err="1"/>
              <a:t>integrity</a:t>
            </a:r>
            <a:r>
              <a:rPr lang="pl-PL" sz="2000" dirty="0"/>
              <a:t>.</a:t>
            </a:r>
          </a:p>
          <a:p>
            <a:r>
              <a:rPr lang="pl-PL" sz="2000" b="1" dirty="0" err="1"/>
              <a:t>Deduplication</a:t>
            </a:r>
            <a:r>
              <a:rPr lang="pl-PL" sz="2000" b="1" dirty="0"/>
              <a:t>:</a:t>
            </a:r>
            <a:r>
              <a:rPr lang="pl-PL" sz="2000" dirty="0"/>
              <a:t> </a:t>
            </a:r>
            <a:r>
              <a:rPr lang="pl-PL" sz="2000" dirty="0" err="1"/>
              <a:t>Performed</a:t>
            </a:r>
            <a:r>
              <a:rPr lang="pl-PL" sz="2000" dirty="0"/>
              <a:t> </a:t>
            </a:r>
            <a:r>
              <a:rPr lang="pl-PL" sz="2000" dirty="0" err="1"/>
              <a:t>rigorous</a:t>
            </a:r>
            <a:r>
              <a:rPr lang="pl-PL" sz="2000" dirty="0"/>
              <a:t> data </a:t>
            </a:r>
            <a:r>
              <a:rPr lang="pl-PL" sz="2000" dirty="0" err="1"/>
              <a:t>cleaning</a:t>
            </a:r>
            <a:r>
              <a:rPr lang="pl-PL" sz="2000" dirty="0"/>
              <a:t> by </a:t>
            </a:r>
            <a:r>
              <a:rPr lang="pl-PL" sz="2000" dirty="0" err="1"/>
              <a:t>removing</a:t>
            </a:r>
            <a:r>
              <a:rPr lang="pl-PL" sz="2000" dirty="0"/>
              <a:t> </a:t>
            </a:r>
            <a:r>
              <a:rPr lang="pl-PL" sz="2000" dirty="0" err="1"/>
              <a:t>duplicate</a:t>
            </a:r>
            <a:r>
              <a:rPr lang="pl-PL" sz="2000" dirty="0"/>
              <a:t> </a:t>
            </a:r>
            <a:r>
              <a:rPr lang="pl-PL" sz="2000" dirty="0" err="1"/>
              <a:t>records</a:t>
            </a:r>
            <a:r>
              <a:rPr lang="pl-PL" sz="2000" dirty="0"/>
              <a:t> </a:t>
            </a:r>
            <a:r>
              <a:rPr lang="pl-PL" sz="2000" dirty="0" err="1"/>
              <a:t>based</a:t>
            </a:r>
            <a:r>
              <a:rPr lang="pl-PL" sz="2000" dirty="0"/>
              <a:t> on the </a:t>
            </a:r>
            <a:r>
              <a:rPr lang="pl-PL" sz="2000" dirty="0" err="1"/>
              <a:t>unique</a:t>
            </a:r>
            <a:r>
              <a:rPr lang="pl-PL" sz="2000" dirty="0"/>
              <a:t> $</a:t>
            </a:r>
            <a:r>
              <a:rPr lang="pl-PL" sz="2000" dirty="0" err="1"/>
              <a:t>ResponseId</a:t>
            </a:r>
            <a:r>
              <a:rPr lang="pl-PL" sz="2000" dirty="0"/>
              <a:t>$.</a:t>
            </a:r>
          </a:p>
          <a:p>
            <a:r>
              <a:rPr lang="pl-PL" sz="2000" b="1" dirty="0"/>
              <a:t>Handling Missing </a:t>
            </a:r>
            <a:r>
              <a:rPr lang="pl-PL" sz="2000" b="1" dirty="0" err="1"/>
              <a:t>Values</a:t>
            </a:r>
            <a:r>
              <a:rPr lang="pl-PL" sz="2000" b="1" dirty="0"/>
              <a:t>:</a:t>
            </a:r>
            <a:r>
              <a:rPr lang="pl-PL" sz="2000" dirty="0"/>
              <a:t> </a:t>
            </a:r>
            <a:r>
              <a:rPr lang="pl-PL" sz="2000" dirty="0" err="1"/>
              <a:t>Implemented</a:t>
            </a:r>
            <a:r>
              <a:rPr lang="pl-PL" sz="2000" dirty="0"/>
              <a:t> </a:t>
            </a:r>
            <a:r>
              <a:rPr lang="pl-PL" sz="2000" dirty="0" err="1"/>
              <a:t>filtering</a:t>
            </a:r>
            <a:r>
              <a:rPr lang="pl-PL" sz="2000" dirty="0"/>
              <a:t> to </a:t>
            </a:r>
            <a:r>
              <a:rPr lang="pl-PL" sz="2000" dirty="0" err="1"/>
              <a:t>exclude</a:t>
            </a:r>
            <a:r>
              <a:rPr lang="pl-PL" sz="2000" dirty="0"/>
              <a:t> </a:t>
            </a:r>
            <a:r>
              <a:rPr lang="pl-PL" sz="2000" dirty="0" err="1"/>
              <a:t>null</a:t>
            </a:r>
            <a:r>
              <a:rPr lang="pl-PL" sz="2000" dirty="0"/>
              <a:t> </a:t>
            </a:r>
            <a:r>
              <a:rPr lang="pl-PL" sz="2000" dirty="0" err="1"/>
              <a:t>or</a:t>
            </a:r>
            <a:r>
              <a:rPr lang="pl-PL" sz="2000" dirty="0"/>
              <a:t> "</a:t>
            </a:r>
            <a:r>
              <a:rPr lang="pl-PL" sz="2000" dirty="0" err="1"/>
              <a:t>None</a:t>
            </a:r>
            <a:r>
              <a:rPr lang="pl-PL" sz="2000" dirty="0"/>
              <a:t>" </a:t>
            </a:r>
            <a:r>
              <a:rPr lang="pl-PL" sz="2000" dirty="0" err="1"/>
              <a:t>responses</a:t>
            </a:r>
            <a:r>
              <a:rPr lang="pl-PL" sz="2000" dirty="0"/>
              <a:t> in </a:t>
            </a:r>
            <a:r>
              <a:rPr lang="pl-PL" sz="2000" dirty="0" err="1"/>
              <a:t>technology</a:t>
            </a:r>
            <a:r>
              <a:rPr lang="pl-PL" sz="2000" dirty="0"/>
              <a:t> </a:t>
            </a:r>
            <a:r>
              <a:rPr lang="pl-PL" sz="2000" dirty="0" err="1"/>
              <a:t>columns</a:t>
            </a:r>
            <a:r>
              <a:rPr lang="pl-PL" sz="2000" dirty="0"/>
              <a:t> to </a:t>
            </a:r>
            <a:r>
              <a:rPr lang="pl-PL" sz="2000" dirty="0" err="1"/>
              <a:t>prevent</a:t>
            </a:r>
            <a:r>
              <a:rPr lang="pl-PL" sz="2000" dirty="0"/>
              <a:t> "</a:t>
            </a:r>
            <a:r>
              <a:rPr lang="pl-PL" sz="2000" dirty="0" err="1"/>
              <a:t>empty</a:t>
            </a:r>
            <a:r>
              <a:rPr lang="pl-PL" sz="2000" dirty="0"/>
              <a:t>" </a:t>
            </a:r>
            <a:r>
              <a:rPr lang="pl-PL" sz="2000" dirty="0" err="1"/>
              <a:t>categories</a:t>
            </a:r>
            <a:r>
              <a:rPr lang="pl-PL" sz="2000" dirty="0"/>
              <a:t> from </a:t>
            </a:r>
            <a:r>
              <a:rPr lang="pl-PL" sz="2000" dirty="0" err="1"/>
              <a:t>appearing</a:t>
            </a:r>
            <a:r>
              <a:rPr lang="pl-PL" sz="2000" dirty="0"/>
              <a:t> in the </a:t>
            </a:r>
            <a:r>
              <a:rPr lang="pl-PL" sz="2000" dirty="0" err="1"/>
              <a:t>dashboard</a:t>
            </a:r>
            <a:r>
              <a:rPr lang="pl-PL" sz="2000" dirty="0"/>
              <a:t>.</a:t>
            </a:r>
          </a:p>
          <a:p>
            <a:r>
              <a:rPr lang="pl-PL" sz="2000" b="1" dirty="0"/>
              <a:t>Data Casting:</a:t>
            </a:r>
            <a:r>
              <a:rPr lang="pl-PL" sz="2000" dirty="0"/>
              <a:t> </a:t>
            </a:r>
            <a:r>
              <a:rPr lang="pl-PL" sz="2000" dirty="0" err="1"/>
              <a:t>Converted</a:t>
            </a:r>
            <a:r>
              <a:rPr lang="pl-PL" sz="2000" dirty="0"/>
              <a:t> string-</a:t>
            </a:r>
            <a:r>
              <a:rPr lang="pl-PL" sz="2000" dirty="0" err="1"/>
              <a:t>based</a:t>
            </a:r>
            <a:r>
              <a:rPr lang="pl-PL" sz="2000" dirty="0"/>
              <a:t> </a:t>
            </a:r>
            <a:r>
              <a:rPr lang="pl-PL" sz="2000" dirty="0" err="1"/>
              <a:t>salary</a:t>
            </a:r>
            <a:r>
              <a:rPr lang="pl-PL" sz="2000" dirty="0"/>
              <a:t> and </a:t>
            </a:r>
            <a:r>
              <a:rPr lang="pl-PL" sz="2000" dirty="0" err="1"/>
              <a:t>age</a:t>
            </a:r>
            <a:r>
              <a:rPr lang="pl-PL" sz="2000" dirty="0"/>
              <a:t> data </a:t>
            </a:r>
            <a:r>
              <a:rPr lang="pl-PL" sz="2000" dirty="0" err="1"/>
              <a:t>into</a:t>
            </a:r>
            <a:r>
              <a:rPr lang="pl-PL" sz="2000" dirty="0"/>
              <a:t> </a:t>
            </a:r>
            <a:r>
              <a:rPr lang="pl-PL" sz="2000" dirty="0" err="1"/>
              <a:t>numerical</a:t>
            </a:r>
            <a:r>
              <a:rPr lang="pl-PL" sz="2000" dirty="0"/>
              <a:t> </a:t>
            </a:r>
            <a:r>
              <a:rPr lang="pl-PL" sz="2000" dirty="0" err="1"/>
              <a:t>types</a:t>
            </a:r>
            <a:r>
              <a:rPr lang="pl-PL" sz="2000" dirty="0"/>
              <a:t> (</a:t>
            </a:r>
            <a:r>
              <a:rPr lang="pl-PL" sz="2000" dirty="0" err="1"/>
              <a:t>floats</a:t>
            </a:r>
            <a:r>
              <a:rPr lang="pl-PL" sz="2000" dirty="0"/>
              <a:t>/</a:t>
            </a:r>
            <a:r>
              <a:rPr lang="pl-PL" sz="2000" dirty="0" err="1"/>
              <a:t>integers</a:t>
            </a:r>
            <a:r>
              <a:rPr lang="pl-PL" sz="2000" dirty="0"/>
              <a:t>) to </a:t>
            </a:r>
            <a:r>
              <a:rPr lang="pl-PL" sz="2000" dirty="0" err="1"/>
              <a:t>enable</a:t>
            </a:r>
            <a:r>
              <a:rPr lang="pl-PL" sz="2000" dirty="0"/>
              <a:t> </a:t>
            </a:r>
            <a:r>
              <a:rPr lang="pl-PL" sz="2000" dirty="0" err="1"/>
              <a:t>mathematical</a:t>
            </a:r>
            <a:r>
              <a:rPr lang="pl-PL" sz="2000" dirty="0"/>
              <a:t> </a:t>
            </a:r>
            <a:r>
              <a:rPr lang="pl-PL" sz="2000" dirty="0" err="1"/>
              <a:t>aggregations</a:t>
            </a:r>
            <a:r>
              <a:rPr lang="pl-PL" sz="2000" dirty="0"/>
              <a:t> and "</a:t>
            </a:r>
            <a:r>
              <a:rPr lang="pl-PL" sz="2000" dirty="0" err="1"/>
              <a:t>Count</a:t>
            </a:r>
            <a:r>
              <a:rPr lang="pl-PL" sz="2000" dirty="0"/>
              <a:t> </a:t>
            </a:r>
            <a:r>
              <a:rPr lang="pl-PL" sz="2000" dirty="0" err="1"/>
              <a:t>Distinct</a:t>
            </a:r>
            <a:r>
              <a:rPr lang="pl-PL" sz="2000" dirty="0"/>
              <a:t>" </a:t>
            </a:r>
            <a:r>
              <a:rPr lang="pl-PL" sz="2000" dirty="0" err="1"/>
              <a:t>measures</a:t>
            </a:r>
            <a:r>
              <a:rPr lang="pl-PL" sz="2000" dirty="0"/>
              <a:t>.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A325BBF6-DB95-2486-184D-CDCFA4815B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99380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D9DE5-3879-9A08-4510-A610AD781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2EED092-DE1F-2536-0764-753A0F47D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08EA3CE-CB50-FB64-C1CE-1CC11508C667}"/>
              </a:ext>
            </a:extLst>
          </p:cNvPr>
          <p:cNvSpPr txBox="1">
            <a:spLocks/>
          </p:cNvSpPr>
          <p:nvPr/>
        </p:nvSpPr>
        <p:spPr>
          <a:xfrm>
            <a:off x="3950563" y="1825625"/>
            <a:ext cx="740323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l-PL" altLang="pl-PL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Text</a:t>
            </a:r>
            <a:r>
              <a:rPr lang="pl-PL" altLang="pl-PL" sz="18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 "</a:t>
            </a:r>
            <a:r>
              <a:rPr lang="pl-PL" altLang="pl-PL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Implementation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 of the </a:t>
            </a:r>
            <a:r>
              <a:rPr lang="pl-PL" altLang="pl-PL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Normalization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l-PL" altLang="pl-PL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Pipeline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l-PL" altLang="pl-PL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using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l-PL" altLang="pl-PL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Python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l-PL" altLang="pl-PL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l-PL" altLang="pl-PL" sz="1800" i="1" dirty="0">
                <a:solidFill>
                  <a:schemeClr val="tx1"/>
                </a:solidFill>
                <a:latin typeface="Arial Unicode MS" panose="020B0604020202020204" pitchFamily="34" charset="-128"/>
              </a:rPr>
              <a:t># </a:t>
            </a:r>
            <a:r>
              <a:rPr lang="pl-PL" altLang="pl-PL" sz="1800" i="1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Splitting</a:t>
            </a:r>
            <a:r>
              <a:rPr lang="pl-PL" altLang="pl-PL" sz="1800" i="1" dirty="0">
                <a:solidFill>
                  <a:schemeClr val="tx1"/>
                </a:solidFill>
                <a:latin typeface="Arial Unicode MS" panose="020B0604020202020204" pitchFamily="34" charset="-128"/>
              </a:rPr>
              <a:t> </a:t>
            </a:r>
            <a:r>
              <a:rPr lang="pl-PL" altLang="pl-PL" sz="1800" i="1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strings</a:t>
            </a:r>
            <a:r>
              <a:rPr lang="pl-PL" altLang="pl-PL" sz="1800" i="1" dirty="0">
                <a:solidFill>
                  <a:schemeClr val="tx1"/>
                </a:solidFill>
                <a:latin typeface="Arial Unicode MS" panose="020B0604020202020204" pitchFamily="34" charset="-128"/>
              </a:rPr>
              <a:t> and </a:t>
            </a:r>
            <a:r>
              <a:rPr lang="pl-PL" altLang="pl-PL" sz="1800" i="1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exploding</a:t>
            </a:r>
            <a:r>
              <a:rPr lang="pl-PL" altLang="pl-PL" sz="1800" i="1" dirty="0">
                <a:solidFill>
                  <a:schemeClr val="tx1"/>
                </a:solidFill>
                <a:latin typeface="Arial Unicode MS" panose="020B0604020202020204" pitchFamily="34" charset="-128"/>
              </a:rPr>
              <a:t> to </a:t>
            </a:r>
            <a:r>
              <a:rPr lang="pl-PL" altLang="pl-PL" sz="1800" i="1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long</a:t>
            </a:r>
            <a:r>
              <a:rPr lang="pl-PL" altLang="pl-PL" sz="1800" i="1" dirty="0">
                <a:solidFill>
                  <a:schemeClr val="tx1"/>
                </a:solidFill>
                <a:latin typeface="Arial Unicode MS" panose="020B0604020202020204" pitchFamily="34" charset="-128"/>
              </a:rPr>
              <a:t> format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l-PL" altLang="pl-PL" sz="1800" i="1" dirty="0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l-PL" altLang="pl-PL" sz="1600" i="1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df</a:t>
            </a:r>
            <a:r>
              <a:rPr lang="pl-PL" altLang="pl-PL" sz="1600" i="1" dirty="0">
                <a:solidFill>
                  <a:schemeClr val="tx1"/>
                </a:solidFill>
                <a:latin typeface="Arial Unicode MS" panose="020B0604020202020204" pitchFamily="34" charset="-128"/>
              </a:rPr>
              <a:t>['</a:t>
            </a:r>
            <a:r>
              <a:rPr lang="pl-PL" altLang="pl-PL" sz="1600" i="1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Languages</a:t>
            </a:r>
            <a:r>
              <a:rPr lang="pl-PL" altLang="pl-PL" sz="1600" i="1" dirty="0">
                <a:solidFill>
                  <a:schemeClr val="tx1"/>
                </a:solidFill>
                <a:latin typeface="Arial Unicode MS" panose="020B0604020202020204" pitchFamily="34" charset="-128"/>
              </a:rPr>
              <a:t>'] = </a:t>
            </a:r>
            <a:r>
              <a:rPr lang="pl-PL" altLang="pl-PL" sz="1600" i="1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df</a:t>
            </a:r>
            <a:r>
              <a:rPr lang="pl-PL" altLang="pl-PL" sz="1600" i="1" dirty="0">
                <a:solidFill>
                  <a:schemeClr val="tx1"/>
                </a:solidFill>
                <a:latin typeface="Arial Unicode MS" panose="020B0604020202020204" pitchFamily="34" charset="-128"/>
              </a:rPr>
              <a:t>['</a:t>
            </a:r>
            <a:r>
              <a:rPr lang="pl-PL" altLang="pl-PL" sz="1600" i="1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Languages</a:t>
            </a:r>
            <a:r>
              <a:rPr lang="pl-PL" altLang="pl-PL" sz="1600" i="1" dirty="0">
                <a:solidFill>
                  <a:schemeClr val="tx1"/>
                </a:solidFill>
                <a:latin typeface="Arial Unicode MS" panose="020B0604020202020204" pitchFamily="34" charset="-128"/>
              </a:rPr>
              <a:t>'].</a:t>
            </a:r>
            <a:r>
              <a:rPr lang="pl-PL" altLang="pl-PL" sz="1600" i="1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str.split</a:t>
            </a:r>
            <a:r>
              <a:rPr lang="pl-PL" altLang="pl-PL" sz="1600" i="1" dirty="0">
                <a:solidFill>
                  <a:schemeClr val="tx1"/>
                </a:solidFill>
                <a:latin typeface="Arial Unicode MS" panose="020B0604020202020204" pitchFamily="34" charset="-128"/>
              </a:rPr>
              <a:t>(';') </a:t>
            </a:r>
            <a:r>
              <a:rPr lang="pl-PL" altLang="pl-PL" sz="1600" i="1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df_final</a:t>
            </a:r>
            <a:r>
              <a:rPr lang="pl-PL" altLang="pl-PL" sz="1600" i="1" dirty="0">
                <a:solidFill>
                  <a:schemeClr val="tx1"/>
                </a:solidFill>
                <a:latin typeface="Arial Unicode MS" panose="020B0604020202020204" pitchFamily="34" charset="-128"/>
              </a:rPr>
              <a:t> = </a:t>
            </a:r>
            <a:r>
              <a:rPr lang="pl-PL" altLang="pl-PL" sz="1600" i="1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df.explode</a:t>
            </a:r>
            <a:r>
              <a:rPr lang="pl-PL" altLang="pl-PL" sz="1600" i="1" dirty="0">
                <a:solidFill>
                  <a:schemeClr val="tx1"/>
                </a:solidFill>
                <a:latin typeface="Arial Unicode MS" panose="020B0604020202020204" pitchFamily="34" charset="-128"/>
              </a:rPr>
              <a:t>('</a:t>
            </a:r>
            <a:r>
              <a:rPr lang="pl-PL" altLang="pl-PL" sz="1600" i="1" dirty="0" err="1">
                <a:solidFill>
                  <a:schemeClr val="tx1"/>
                </a:solidFill>
                <a:latin typeface="Arial Unicode MS" panose="020B0604020202020204" pitchFamily="34" charset="-128"/>
              </a:rPr>
              <a:t>Languages</a:t>
            </a:r>
            <a:r>
              <a:rPr lang="pl-PL" altLang="pl-PL" sz="1600" i="1" dirty="0">
                <a:solidFill>
                  <a:schemeClr val="tx1"/>
                </a:solidFill>
                <a:latin typeface="Arial Unicode MS" panose="020B0604020202020204" pitchFamily="34" charset="-128"/>
              </a:rPr>
              <a:t>’)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l-PL" altLang="pl-PL" sz="1050" dirty="0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l-PL" altLang="pl-PL" sz="1050" dirty="0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l-PL" altLang="pl-PL" sz="1050" dirty="0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l-PL" altLang="pl-PL" sz="400" dirty="0">
              <a:solidFill>
                <a:schemeClr val="tx1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pl-PL" sz="1800" b="1" dirty="0">
                <a:solidFill>
                  <a:schemeClr val="tx1"/>
                </a:solidFill>
                <a:latin typeface="Arial" panose="020B0604020202020204" pitchFamily="34" charset="0"/>
              </a:rPr>
              <a:t>Value-</a:t>
            </a:r>
            <a:r>
              <a:rPr lang="pl-PL" altLang="pl-PL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Add</a:t>
            </a:r>
            <a:r>
              <a:rPr lang="pl-PL" altLang="pl-PL" sz="1800" b="1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l-PL" altLang="pl-PL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This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l-PL" altLang="pl-PL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snippet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l-PL" altLang="pl-PL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demonstrates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 the </a:t>
            </a:r>
            <a:r>
              <a:rPr lang="pl-PL" altLang="pl-PL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transition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 from </a:t>
            </a:r>
            <a:r>
              <a:rPr lang="pl-PL" altLang="pl-PL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raw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 data to a </a:t>
            </a:r>
            <a:r>
              <a:rPr lang="pl-PL" altLang="pl-PL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visualization-ready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pl-PL" altLang="pl-PL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state</a:t>
            </a:r>
            <a:r>
              <a:rPr lang="pl-PL" altLang="pl-PL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l-PL" altLang="pl-PL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AC54B9A0-B76C-2695-B787-4A3C226008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79796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772357" y="1410150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400" dirty="0"/>
              <a:t>In Module 1 you have collected the job posting data using Job API in a file named “</a:t>
            </a:r>
            <a:r>
              <a:rPr lang="en-IN" sz="1400" dirty="0"/>
              <a:t>job-</a:t>
            </a:r>
            <a:r>
              <a:rPr lang="en-IN" sz="1400" dirty="0" err="1"/>
              <a:t>postings.xlsx</a:t>
            </a:r>
            <a:r>
              <a:rPr lang="en-US" sz="1400" dirty="0"/>
              <a:t>”. Present that data using a bar chart here. Order the bar chart in the descending order of the number of job postings.</a:t>
            </a:r>
          </a:p>
        </p:txBody>
      </p:sp>
      <p:pic>
        <p:nvPicPr>
          <p:cNvPr id="3" name="Obraz 2" descr="Obraz zawierający tekst, zrzut ekranu, linia, diagram&#10;&#10;Zawartość wygenerowana przez AI może być niepoprawna.">
            <a:extLst>
              <a:ext uri="{FF2B5EF4-FFF2-40B4-BE49-F238E27FC236}">
                <a16:creationId xmlns:a16="http://schemas.microsoft.com/office/drawing/2014/main" id="{6E14D50F-9D96-FF47-B2D3-289B1803E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59313"/>
            <a:ext cx="7772400" cy="46271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33314" y="1436783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400" dirty="0"/>
              <a:t>In Module 1 you have collected the job postings data using web scraping in a file named “</a:t>
            </a:r>
            <a:r>
              <a:rPr lang="en-IN" sz="1400" dirty="0"/>
              <a:t>popular-</a:t>
            </a:r>
            <a:r>
              <a:rPr lang="en-IN" sz="1400" dirty="0" err="1"/>
              <a:t>languages.csv</a:t>
            </a:r>
            <a:r>
              <a:rPr lang="en-US" sz="1400" dirty="0"/>
              <a:t>”. Present that data using a bar chart here. Order the bar chart in the descending order of salary.</a:t>
            </a:r>
          </a:p>
        </p:txBody>
      </p:sp>
      <p:pic>
        <p:nvPicPr>
          <p:cNvPr id="3" name="Obraz 2" descr="Obraz zawierający tekst, linia, Wykres, numer&#10;&#10;Zawartość wygenerowana przez AI może być niepoprawna.">
            <a:extLst>
              <a:ext uri="{FF2B5EF4-FFF2-40B4-BE49-F238E27FC236}">
                <a16:creationId xmlns:a16="http://schemas.microsoft.com/office/drawing/2014/main" id="{E42235F2-0224-AC9F-623F-6A879D660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1980416"/>
            <a:ext cx="7772400" cy="46382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26</TotalTime>
  <Words>886</Words>
  <Application>Microsoft Macintosh PowerPoint</Application>
  <PresentationFormat>Panoramiczny</PresentationFormat>
  <Paragraphs>101</Paragraphs>
  <Slides>21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9" baseType="lpstr">
      <vt:lpstr>Arial Unicode MS</vt:lpstr>
      <vt:lpstr>Arial</vt:lpstr>
      <vt:lpstr>Calibri</vt:lpstr>
      <vt:lpstr>Helv</vt:lpstr>
      <vt:lpstr>IBM Plex Mono</vt:lpstr>
      <vt:lpstr>IBM Plex Sans</vt:lpstr>
      <vt:lpstr>IBM Plex Sans SemiBold</vt:lpstr>
      <vt:lpstr>SLIDE_TEMPLATE_skill_network</vt:lpstr>
      <vt:lpstr>Data Analysis  and  Visualization of Developer Trends</vt:lpstr>
      <vt:lpstr>Prezentacja programu PowerPoint</vt:lpstr>
      <vt:lpstr>EXECUTIVE SUMMARY</vt:lpstr>
      <vt:lpstr>INTRODUCTION</vt:lpstr>
      <vt:lpstr>METHODOLOGY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</vt:lpstr>
      <vt:lpstr>DASHBOARD TAB 2</vt:lpstr>
      <vt:lpstr>DASHBOARD TAB 3</vt:lpstr>
      <vt:lpstr>DISCUSSION</vt:lpstr>
      <vt:lpstr>OVERALL FINDINGS &amp; IMPLICATIONS</vt:lpstr>
      <vt:lpstr>CONCLUSION</vt:lpstr>
      <vt:lpstr>APPENDIX</vt:lpstr>
      <vt:lpstr>APPENDIX</vt:lpstr>
      <vt:lpstr>APPENDIX</vt:lpstr>
      <vt:lpstr> JOB POSTINGS</vt:lpstr>
      <vt:lpstr>POPULAR LANGUAGES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Bando, Michal</cp:lastModifiedBy>
  <cp:revision>6</cp:revision>
  <dcterms:created xsi:type="dcterms:W3CDTF">2024-10-30T05:40:03Z</dcterms:created>
  <dcterms:modified xsi:type="dcterms:W3CDTF">2026-01-02T17:57:09Z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  <property fmtid="{D5CDD505-2E9C-101B-9397-08002B2CF9AE}" pid="6" name="MSIP_Label_15394ae5-69af-439d-af88-cb521c31c0c5_Enabled">
    <vt:lpwstr>true</vt:lpwstr>
  </property>
  <property fmtid="{D5CDD505-2E9C-101B-9397-08002B2CF9AE}" pid="7" name="MSIP_Label_15394ae5-69af-439d-af88-cb521c31c0c5_SetDate">
    <vt:lpwstr>2026-01-02T17:41:05Z</vt:lpwstr>
  </property>
  <property fmtid="{D5CDD505-2E9C-101B-9397-08002B2CF9AE}" pid="8" name="MSIP_Label_15394ae5-69af-439d-af88-cb521c31c0c5_Method">
    <vt:lpwstr>Standard</vt:lpwstr>
  </property>
  <property fmtid="{D5CDD505-2E9C-101B-9397-08002B2CF9AE}" pid="9" name="MSIP_Label_15394ae5-69af-439d-af88-cb521c31c0c5_Name">
    <vt:lpwstr>DXC Internal</vt:lpwstr>
  </property>
  <property fmtid="{D5CDD505-2E9C-101B-9397-08002B2CF9AE}" pid="10" name="MSIP_Label_15394ae5-69af-439d-af88-cb521c31c0c5_SiteId">
    <vt:lpwstr>93f33571-550f-43cf-b09f-cd331338d086</vt:lpwstr>
  </property>
  <property fmtid="{D5CDD505-2E9C-101B-9397-08002B2CF9AE}" pid="11" name="MSIP_Label_15394ae5-69af-439d-af88-cb521c31c0c5_ActionId">
    <vt:lpwstr>09db23e7-efbb-4fbd-a07f-da76f64382ea</vt:lpwstr>
  </property>
  <property fmtid="{D5CDD505-2E9C-101B-9397-08002B2CF9AE}" pid="12" name="MSIP_Label_15394ae5-69af-439d-af88-cb521c31c0c5_ContentBits">
    <vt:lpwstr>0</vt:lpwstr>
  </property>
  <property fmtid="{D5CDD505-2E9C-101B-9397-08002B2CF9AE}" pid="13" name="MSIP_Label_15394ae5-69af-439d-af88-cb521c31c0c5_Tag">
    <vt:lpwstr>50, 3, 0, 1</vt:lpwstr>
  </property>
</Properties>
</file>